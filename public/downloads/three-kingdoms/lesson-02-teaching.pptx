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0527f62a642a9" /><Relationship Type="http://schemas.openxmlformats.org/officeDocument/2006/relationships/extended-properties" Target="/docProps/app.xml" Id="Ra5237864a4cd4886" /><Relationship Type="http://schemas.openxmlformats.org/officeDocument/2006/relationships/officeDocument" Target="/ppt/presentation.xml" Id="R10d9c519c6b2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46e3227c44ded"/>
  </p:sldMasterIdLst>
  <p:notesMasterIdLst>
    <p:notesMasterId xmlns:r="http://schemas.openxmlformats.org/officeDocument/2006/relationships" r:id="R0b687f12486a4f20"/>
  </p:notesMasterIdLst>
  <p:sldIdLst>
    <p:sldId xmlns:r="http://schemas.openxmlformats.org/officeDocument/2006/relationships" id="256" r:id="R4244ff8944f74eac"/>
    <p:sldId xmlns:r="http://schemas.openxmlformats.org/officeDocument/2006/relationships" id="257" r:id="R44ab62230dd34d4b"/>
    <p:sldId xmlns:r="http://schemas.openxmlformats.org/officeDocument/2006/relationships" id="258" r:id="R749f1e18571f4621"/>
    <p:sldId xmlns:r="http://schemas.openxmlformats.org/officeDocument/2006/relationships" id="259" r:id="Re954cb5ec4054594"/>
    <p:sldId xmlns:r="http://schemas.openxmlformats.org/officeDocument/2006/relationships" id="260" r:id="R8663e7948964439b"/>
    <p:sldId xmlns:r="http://schemas.openxmlformats.org/officeDocument/2006/relationships" id="261" r:id="R00a4ddbb2b2246cf"/>
    <p:sldId xmlns:r="http://schemas.openxmlformats.org/officeDocument/2006/relationships" id="262" r:id="Rc7c8d20094a7420c"/>
    <p:sldId xmlns:r="http://schemas.openxmlformats.org/officeDocument/2006/relationships" id="263" r:id="R208d7011eb184ce6"/>
    <p:sldId xmlns:r="http://schemas.openxmlformats.org/officeDocument/2006/relationships" id="264" r:id="R88d1909fa6054b7a"/>
    <p:sldId xmlns:r="http://schemas.openxmlformats.org/officeDocument/2006/relationships" id="265" r:id="Rca64a32863534df4"/>
    <p:sldId xmlns:r="http://schemas.openxmlformats.org/officeDocument/2006/relationships" id="266" r:id="R2408d15271c04330"/>
    <p:sldId xmlns:r="http://schemas.openxmlformats.org/officeDocument/2006/relationships" id="267" r:id="R427adbb22e7e4812"/>
    <p:sldId xmlns:r="http://schemas.openxmlformats.org/officeDocument/2006/relationships" id="268" r:id="Rbccb2e78ac9a4ec8"/>
    <p:sldId xmlns:r="http://schemas.openxmlformats.org/officeDocument/2006/relationships" id="269" r:id="Rc4ce07c4388b4493"/>
    <p:sldId xmlns:r="http://schemas.openxmlformats.org/officeDocument/2006/relationships" id="270" r:id="R4f2d94f1d52948a3"/>
    <p:sldId xmlns:r="http://schemas.openxmlformats.org/officeDocument/2006/relationships" id="271" r:id="R286d53cf1b0e4aec"/>
    <p:sldId xmlns:r="http://schemas.openxmlformats.org/officeDocument/2006/relationships" id="272" r:id="R7b6363d4a2f04be9"/>
    <p:sldId xmlns:r="http://schemas.openxmlformats.org/officeDocument/2006/relationships" id="273" r:id="Rdb6d7d665fa14bf2"/>
    <p:sldId xmlns:r="http://schemas.openxmlformats.org/officeDocument/2006/relationships" id="274" r:id="Ra3f49e73dd1e4d0d"/>
    <p:sldId xmlns:r="http://schemas.openxmlformats.org/officeDocument/2006/relationships" id="275" r:id="R835df5fd1e77497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a2162b7b64f39" /><Relationship Type="http://schemas.openxmlformats.org/officeDocument/2006/relationships/slideMaster" Target="/ppt/slideMasters/slideMaster1.xml" Id="R87f46e3227c44ded" /><Relationship Type="http://schemas.openxmlformats.org/officeDocument/2006/relationships/notesMaster" Target="/ppt/notesMasters/notesMaster1.xml" Id="R0b687f12486a4f20" /><Relationship Type="http://schemas.openxmlformats.org/officeDocument/2006/relationships/presProps" Target="/ppt/presProps.xml" Id="R69002282e1d048ff" /><Relationship Type="http://schemas.openxmlformats.org/officeDocument/2006/relationships/viewProps" Target="/ppt/viewProps.xml" Id="Rc50e80627ca94d7e" /><Relationship Type="http://schemas.openxmlformats.org/officeDocument/2006/relationships/tableStyles" Target="/ppt/tableStyles.xml" Id="R58b5e797a7f94cec" /><Relationship Type="http://schemas.openxmlformats.org/officeDocument/2006/relationships/slide" Target="/ppt/slides/slide1.xml" Id="R4244ff8944f74eac" /><Relationship Type="http://schemas.openxmlformats.org/officeDocument/2006/relationships/slide" Target="/ppt/slides/slide2.xml" Id="R44ab62230dd34d4b" /><Relationship Type="http://schemas.openxmlformats.org/officeDocument/2006/relationships/slide" Target="/ppt/slides/slide3.xml" Id="R749f1e18571f4621" /><Relationship Type="http://schemas.openxmlformats.org/officeDocument/2006/relationships/slide" Target="/ppt/slides/slide4.xml" Id="Re954cb5ec4054594" /><Relationship Type="http://schemas.openxmlformats.org/officeDocument/2006/relationships/slide" Target="/ppt/slides/slide5.xml" Id="R8663e7948964439b" /><Relationship Type="http://schemas.openxmlformats.org/officeDocument/2006/relationships/slide" Target="/ppt/slides/slide6.xml" Id="R00a4ddbb2b2246cf" /><Relationship Type="http://schemas.openxmlformats.org/officeDocument/2006/relationships/slide" Target="/ppt/slides/slide7.xml" Id="Rc7c8d20094a7420c" /><Relationship Type="http://schemas.openxmlformats.org/officeDocument/2006/relationships/slide" Target="/ppt/slides/slide8.xml" Id="R208d7011eb184ce6" /><Relationship Type="http://schemas.openxmlformats.org/officeDocument/2006/relationships/slide" Target="/ppt/slides/slide9.xml" Id="R88d1909fa6054b7a" /><Relationship Type="http://schemas.openxmlformats.org/officeDocument/2006/relationships/slide" Target="/ppt/slides/slide10.xml" Id="Rca64a32863534df4" /><Relationship Type="http://schemas.openxmlformats.org/officeDocument/2006/relationships/slide" Target="/ppt/slides/slide11.xml" Id="R2408d15271c04330" /><Relationship Type="http://schemas.openxmlformats.org/officeDocument/2006/relationships/slide" Target="/ppt/slides/slide12.xml" Id="R427adbb22e7e4812" /><Relationship Type="http://schemas.openxmlformats.org/officeDocument/2006/relationships/slide" Target="/ppt/slides/slide13.xml" Id="Rbccb2e78ac9a4ec8" /><Relationship Type="http://schemas.openxmlformats.org/officeDocument/2006/relationships/slide" Target="/ppt/slides/slide14.xml" Id="Rc4ce07c4388b4493" /><Relationship Type="http://schemas.openxmlformats.org/officeDocument/2006/relationships/slide" Target="/ppt/slides/slide15.xml" Id="R4f2d94f1d52948a3" /><Relationship Type="http://schemas.openxmlformats.org/officeDocument/2006/relationships/slide" Target="/ppt/slides/slide16.xml" Id="R286d53cf1b0e4aec" /><Relationship Type="http://schemas.openxmlformats.org/officeDocument/2006/relationships/slide" Target="/ppt/slides/slide17.xml" Id="R7b6363d4a2f04be9" /><Relationship Type="http://schemas.openxmlformats.org/officeDocument/2006/relationships/slide" Target="/ppt/slides/slide18.xml" Id="Rdb6d7d665fa14bf2" /><Relationship Type="http://schemas.openxmlformats.org/officeDocument/2006/relationships/slide" Target="/ppt/slides/slide19.xml" Id="Ra3f49e73dd1e4d0d" /><Relationship Type="http://schemas.openxmlformats.org/officeDocument/2006/relationships/slide" Target="/ppt/slides/slide20.xml" Id="R835df5fd1e77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2c66caf59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f88c9979e4b31" /><Relationship Type="http://schemas.openxmlformats.org/officeDocument/2006/relationships/notesMaster" Target="/ppt/notesMasters/notesMaster1.xml" Id="R1f795c630511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5d4339af54b16" /><Relationship Type="http://schemas.openxmlformats.org/officeDocument/2006/relationships/notesMaster" Target="/ppt/notesMasters/notesMaster1.xml" Id="Rbeb61487ccb9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876a8d71b423f" /><Relationship Type="http://schemas.openxmlformats.org/officeDocument/2006/relationships/notesMaster" Target="/ppt/notesMasters/notesMaster1.xml" Id="R9f9201cce70343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106a81c204228" /><Relationship Type="http://schemas.openxmlformats.org/officeDocument/2006/relationships/notesMaster" Target="/ppt/notesMasters/notesMaster1.xml" Id="R029030c5acd8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ef4f3e45a46c3" /><Relationship Type="http://schemas.openxmlformats.org/officeDocument/2006/relationships/notesMaster" Target="/ppt/notesMasters/notesMaster1.xml" Id="R53c92c8a8e94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b4b86f1f94ad7" /><Relationship Type="http://schemas.openxmlformats.org/officeDocument/2006/relationships/notesMaster" Target="/ppt/notesMasters/notesMaster1.xml" Id="Refc31a5b66e9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571912fd94452" /><Relationship Type="http://schemas.openxmlformats.org/officeDocument/2006/relationships/notesMaster" Target="/ppt/notesMasters/notesMaster1.xml" Id="Re7c59f12935d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1b7e80910b4189" /><Relationship Type="http://schemas.openxmlformats.org/officeDocument/2006/relationships/notesMaster" Target="/ppt/notesMasters/notesMaster1.xml" Id="R6abbc9cc404f4a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1435bbf99448da" /><Relationship Type="http://schemas.openxmlformats.org/officeDocument/2006/relationships/notesMaster" Target="/ppt/notesMasters/notesMaster1.xml" Id="R369d6cc3d34747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400962085246df" /><Relationship Type="http://schemas.openxmlformats.org/officeDocument/2006/relationships/notesMaster" Target="/ppt/notesMasters/notesMaster1.xml" Id="Red5d77f96c1445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05dad89e6c4da7" /><Relationship Type="http://schemas.openxmlformats.org/officeDocument/2006/relationships/notesMaster" Target="/ppt/notesMasters/notesMaster1.xml" Id="R700db60e72414f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0bf99cb64040be" /><Relationship Type="http://schemas.openxmlformats.org/officeDocument/2006/relationships/notesMaster" Target="/ppt/notesMasters/notesMaster1.xml" Id="R7295ee9c21cf4e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84b592917842d2" /><Relationship Type="http://schemas.openxmlformats.org/officeDocument/2006/relationships/notesMaster" Target="/ppt/notesMasters/notesMaster1.xml" Id="Rb8c72f293c254a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e7bce486dd4887" /><Relationship Type="http://schemas.openxmlformats.org/officeDocument/2006/relationships/notesMaster" Target="/ppt/notesMasters/notesMaster1.xml" Id="Rcaa026eb1f3e41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f35b1d3cd44bfb" /><Relationship Type="http://schemas.openxmlformats.org/officeDocument/2006/relationships/notesMaster" Target="/ppt/notesMasters/notesMaster1.xml" Id="R842ebffdd6e94f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7bbaacd6c3496c" /><Relationship Type="http://schemas.openxmlformats.org/officeDocument/2006/relationships/notesMaster" Target="/ppt/notesMasters/notesMaster1.xml" Id="R81ab174337dd48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a4910594b8438f" /><Relationship Type="http://schemas.openxmlformats.org/officeDocument/2006/relationships/notesMaster" Target="/ppt/notesMasters/notesMaster1.xml" Id="R93a5fbe0b8134d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255875718344e8" /><Relationship Type="http://schemas.openxmlformats.org/officeDocument/2006/relationships/notesMaster" Target="/ppt/notesMasters/notesMaster1.xml" Id="R18fa996feea844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07f39a98bc430a" /><Relationship Type="http://schemas.openxmlformats.org/officeDocument/2006/relationships/notesMaster" Target="/ppt/notesMasters/notesMaster1.xml" Id="Rd0e6f40d57f644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3ef07081ba438a" /><Relationship Type="http://schemas.openxmlformats.org/officeDocument/2006/relationships/notesMaster" Target="/ppt/notesMasters/notesMaster1.xml" Id="R338197e03d66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1모둠 정답 · 무령왕릉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무령왕릉은 1971년 공주 송산리 고분군의 배수로 공사 중 우연히 발견되었습니다.</a:t>
            </a:r>
          </a:p>
          <a:p xmlns:a="http://schemas.openxmlformats.org/drawingml/2006/main">
            <a:r>
              <a:t>발견 연도와 경위가 공식 자료에 기록되어 있습니다.</a:t>
            </a:r>
          </a:p>
          <a:p xmlns:a="http://schemas.openxmlformats.org/drawingml/2006/main">
            <a:r>
              <a:t>무령왕릉 1971 배수로 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무덤 안의 지석 덕분에 무덤의 주인이 무령왕과 왕비라는 사실을 확인할 수 있었습니다.</a:t>
            </a:r>
          </a:p>
          <a:p xmlns:a="http://schemas.openxmlformats.org/drawingml/2006/main">
            <a:r>
              <a:t>지석에 무덤 주인과 장례 정보가 남아 있습니다.</a:t>
            </a:r>
          </a:p>
          <a:p xmlns:a="http://schemas.openxmlformats.org/drawingml/2006/main">
            <a:r>
              <a:t>무령왕릉 지석 무령왕 왕비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발견 당시 이미 여러 차례 도굴되어 중요한 유물 대부분이 사라진 상태였습니다.</a:t>
            </a:r>
          </a:p>
          <a:p xmlns:a="http://schemas.openxmlformats.org/drawingml/2006/main">
            <a:r>
              <a:t>도굴되지 않은 상태로 발견되어 많은 유물이 남아 있었습니다.</a:t>
            </a:r>
          </a:p>
          <a:p xmlns:a="http://schemas.openxmlformats.org/drawingml/2006/main">
            <a:r>
              <a:t>무령왕릉 도굴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무령왕릉을 처음 발견한 사람은 현장 학습을 온 초등학생이었습니다.</a:t>
            </a:r>
          </a:p>
          <a:p xmlns:a="http://schemas.openxmlformats.org/drawingml/2006/main">
            <a:r>
              <a:t>배수로 공사 과정에서 공사 관계자들이 발견했습니다.</a:t>
            </a:r>
          </a:p>
          <a:p xmlns:a="http://schemas.openxmlformats.org/drawingml/2006/main">
            <a:r>
              <a:t>무령왕릉 발견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○</a:t>
            </a:r>
          </a:p>
          <a:p xmlns:a="http://schemas.openxmlformats.org/drawingml/2006/main">
            <a:r>
              <a:t>무덤 안에서는 진묘수, 금제 관식, 금동 신발, 청동 거울 등 여러 유물이 나왔습니다.</a:t>
            </a:r>
          </a:p>
          <a:p xmlns:a="http://schemas.openxmlformats.org/drawingml/2006/main">
            <a:r>
              <a:t>대표 출토 유물은 박물관 자료에서 확인됩니다.</a:t>
            </a:r>
          </a:p>
          <a:p xmlns:a="http://schemas.openxmlformats.org/drawingml/2006/main">
            <a:r>
              <a:t>무령왕릉 출토 유물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지석만 읽으면 장례의 모든 과정과 유물 하나하나의 정확한 쓰임까지 완전히 알 수 있습니다.</a:t>
            </a:r>
          </a:p>
          <a:p xmlns:a="http://schemas.openxmlformats.org/drawingml/2006/main">
            <a:r>
              <a:t>지석은 중요한 단서지만 모든 과정과 쓰임을 전부 설명하지는 않습니다.</a:t>
            </a:r>
          </a:p>
          <a:p xmlns:a="http://schemas.openxmlformats.org/drawingml/2006/main">
            <a:r>
              <a:t>무령왕릉 지석 한계</a:t>
            </a:r>
          </a:p>
          <a:p xmlns:a="http://schemas.openxmlformats.org/drawingml/2006/main">
            <a:r>
              <a:t>우선 확인처: 국립공주박물관·국립중앙박물관 무령왕릉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1모둠 정답 · 무령왕릉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무령왕릉은 1971년 공주 송산리 고분군의 배수로 공사 중 우연히 발견되었습니다.</a:t>
            </a:r>
          </a:p>
          <a:p xmlns:a="http://schemas.openxmlformats.org/drawingml/2006/main">
            <a:r>
              <a:t>발견 연도와 경위가 공식 자료에 기록되어 있습니다.</a:t>
            </a:r>
          </a:p>
          <a:p xmlns:a="http://schemas.openxmlformats.org/drawingml/2006/main">
            <a:r>
              <a:t>무령왕릉 1971 배수로 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무덤 안의 지석 덕분에 무덤의 주인이 무령왕과 왕비라는 사실을 확인할 수 있었습니다.</a:t>
            </a:r>
          </a:p>
          <a:p xmlns:a="http://schemas.openxmlformats.org/drawingml/2006/main">
            <a:r>
              <a:t>지석에 무덤 주인과 장례 정보가 남아 있습니다.</a:t>
            </a:r>
          </a:p>
          <a:p xmlns:a="http://schemas.openxmlformats.org/drawingml/2006/main">
            <a:r>
              <a:t>무령왕릉 지석 무령왕 왕비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발견 당시 이미 여러 차례 도굴되어 중요한 유물 대부분이 사라진 상태였습니다.</a:t>
            </a:r>
          </a:p>
          <a:p xmlns:a="http://schemas.openxmlformats.org/drawingml/2006/main">
            <a:r>
              <a:t>도굴되지 않은 상태로 발견되어 많은 유물이 남아 있었습니다.</a:t>
            </a:r>
          </a:p>
          <a:p xmlns:a="http://schemas.openxmlformats.org/drawingml/2006/main">
            <a:r>
              <a:t>무령왕릉 도굴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무령왕릉을 처음 발견한 사람은 현장 학습을 온 초등학생이었습니다.</a:t>
            </a:r>
          </a:p>
          <a:p xmlns:a="http://schemas.openxmlformats.org/drawingml/2006/main">
            <a:r>
              <a:t>배수로 공사 과정에서 공사 관계자들이 발견했습니다.</a:t>
            </a:r>
          </a:p>
          <a:p xmlns:a="http://schemas.openxmlformats.org/drawingml/2006/main">
            <a:r>
              <a:t>무령왕릉 발견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○</a:t>
            </a:r>
          </a:p>
          <a:p xmlns:a="http://schemas.openxmlformats.org/drawingml/2006/main">
            <a:r>
              <a:t>무덤 안에서는 진묘수, 금제 관식, 금동 신발, 청동 거울 등 여러 유물이 나왔습니다.</a:t>
            </a:r>
          </a:p>
          <a:p xmlns:a="http://schemas.openxmlformats.org/drawingml/2006/main">
            <a:r>
              <a:t>대표 출토 유물은 박물관 자료에서 확인됩니다.</a:t>
            </a:r>
          </a:p>
          <a:p xmlns:a="http://schemas.openxmlformats.org/drawingml/2006/main">
            <a:r>
              <a:t>무령왕릉 출토 유물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지석만 읽으면 장례의 모든 과정과 유물 하나하나의 정확한 쓰임까지 완전히 알 수 있습니다.</a:t>
            </a:r>
          </a:p>
          <a:p xmlns:a="http://schemas.openxmlformats.org/drawingml/2006/main">
            <a:r>
              <a:t>지석은 중요한 단서지만 모든 과정과 쓰임을 전부 설명하지는 않습니다.</a:t>
            </a:r>
          </a:p>
          <a:p xmlns:a="http://schemas.openxmlformats.org/drawingml/2006/main">
            <a:r>
              <a:t>무령왕릉 지석 한계</a:t>
            </a:r>
          </a:p>
          <a:p xmlns:a="http://schemas.openxmlformats.org/drawingml/2006/main">
            <a:r>
              <a:t>우선 확인처: 국립공주박물관·국립중앙박물관 무령왕릉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2모둠 정답 · 백제 금동대향로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백제 금동대향로는 1993년 부여 능산리 절터를 발굴하던 중 발견되었습니다.</a:t>
            </a:r>
          </a:p>
          <a:p xmlns:a="http://schemas.openxmlformats.org/drawingml/2006/main">
            <a:r>
              <a:t>발견 연도와 장소가 박물관 자료에 기록되어 있습니다.</a:t>
            </a:r>
          </a:p>
          <a:p xmlns:a="http://schemas.openxmlformats.org/drawingml/2006/main">
            <a:r>
              <a:t>금동대향로 1993 능산리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이 향로는 청동으로 만든 뒤 표면에 금을 입힌 금동 유물입니다.</a:t>
            </a:r>
          </a:p>
          <a:p xmlns:a="http://schemas.openxmlformats.org/drawingml/2006/main">
            <a:r>
              <a:t>금동은 청동 바탕에 금을 입힌 재료를 뜻합니다.</a:t>
            </a:r>
          </a:p>
          <a:p xmlns:a="http://schemas.openxmlformats.org/drawingml/2006/main">
            <a:r>
              <a:t>금동대향로 재료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향로는 백제 왕의 무덤 안에서 발견되었습니다.</a:t>
            </a:r>
          </a:p>
          <a:p xmlns:a="http://schemas.openxmlformats.org/drawingml/2006/main">
            <a:r>
              <a:t>왕릉이 아니라 능산리 절터에서 출토되었습니다.</a:t>
            </a:r>
          </a:p>
          <a:p xmlns:a="http://schemas.openxmlformats.org/drawingml/2006/main">
            <a:r>
              <a:t>금동대향로 발견 장소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○</a:t>
            </a:r>
          </a:p>
          <a:p xmlns:a="http://schemas.openxmlformats.org/drawingml/2006/main">
            <a:r>
              <a:t>향로의 꼭대기에는 봉황, 받침에는 용이 있고 산·연꽃·동물·악사도 표현되어 있습니다.</a:t>
            </a:r>
          </a:p>
          <a:p xmlns:a="http://schemas.openxmlformats.org/drawingml/2006/main">
            <a:r>
              <a:t>향로의 형태와 장식은 소장품 사진과 설명에서 확인됩니다.</a:t>
            </a:r>
          </a:p>
          <a:p xmlns:a="http://schemas.openxmlformats.org/drawingml/2006/main">
            <a:r>
              <a:t>금동대향로 봉황 용 악사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향로에 새겨진 모든 동물과 인물이 무엇을 뜻하는지 당시 기록에 남아 있어 완전히 밝혀졌습니다.</a:t>
            </a:r>
          </a:p>
          <a:p xmlns:a="http://schemas.openxmlformats.org/drawingml/2006/main">
            <a:r>
              <a:t>형상은 관찰되지만 모든 무늬의 뜻을 하나로 확정하기 어렵습니다.</a:t>
            </a:r>
          </a:p>
          <a:p xmlns:a="http://schemas.openxmlformats.org/drawingml/2006/main">
            <a:r>
              <a:t>금동대향로 무늬 의미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×</a:t>
            </a:r>
          </a:p>
          <a:p xmlns:a="http://schemas.openxmlformats.org/drawingml/2006/main">
            <a:r>
              <a:t>이 향로는 신라의 황룡사에서 만들어져 발견된 유물입니다.</a:t>
            </a:r>
          </a:p>
          <a:p xmlns:a="http://schemas.openxmlformats.org/drawingml/2006/main">
            <a:r>
              <a:t>부여 지역 절터에서 발견된 백제 유물입니다.</a:t>
            </a:r>
          </a:p>
          <a:p xmlns:a="http://schemas.openxmlformats.org/drawingml/2006/main">
            <a:r>
              <a:t>금동대향로 백제 신라</a:t>
            </a:r>
          </a:p>
          <a:p xmlns:a="http://schemas.openxmlformats.org/drawingml/2006/main">
            <a:r>
              <a:t>우선 확인처: 국립부여박물관 백제 금동대향로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2모둠 정답 · 백제 금동대향로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백제 금동대향로는 1993년 부여 능산리 절터를 발굴하던 중 발견되었습니다.</a:t>
            </a:r>
          </a:p>
          <a:p xmlns:a="http://schemas.openxmlformats.org/drawingml/2006/main">
            <a:r>
              <a:t>발견 연도와 장소가 박물관 자료에 기록되어 있습니다.</a:t>
            </a:r>
          </a:p>
          <a:p xmlns:a="http://schemas.openxmlformats.org/drawingml/2006/main">
            <a:r>
              <a:t>금동대향로 1993 능산리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이 향로는 청동으로 만든 뒤 표면에 금을 입힌 금동 유물입니다.</a:t>
            </a:r>
          </a:p>
          <a:p xmlns:a="http://schemas.openxmlformats.org/drawingml/2006/main">
            <a:r>
              <a:t>금동은 청동 바탕에 금을 입힌 재료를 뜻합니다.</a:t>
            </a:r>
          </a:p>
          <a:p xmlns:a="http://schemas.openxmlformats.org/drawingml/2006/main">
            <a:r>
              <a:t>금동대향로 재료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향로는 백제 왕의 무덤 안에서 발견되었습니다.</a:t>
            </a:r>
          </a:p>
          <a:p xmlns:a="http://schemas.openxmlformats.org/drawingml/2006/main">
            <a:r>
              <a:t>왕릉이 아니라 능산리 절터에서 출토되었습니다.</a:t>
            </a:r>
          </a:p>
          <a:p xmlns:a="http://schemas.openxmlformats.org/drawingml/2006/main">
            <a:r>
              <a:t>금동대향로 발견 장소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○</a:t>
            </a:r>
          </a:p>
          <a:p xmlns:a="http://schemas.openxmlformats.org/drawingml/2006/main">
            <a:r>
              <a:t>향로의 꼭대기에는 봉황, 받침에는 용이 있고 산·연꽃·동물·악사도 표현되어 있습니다.</a:t>
            </a:r>
          </a:p>
          <a:p xmlns:a="http://schemas.openxmlformats.org/drawingml/2006/main">
            <a:r>
              <a:t>향로의 형태와 장식은 소장품 사진과 설명에서 확인됩니다.</a:t>
            </a:r>
          </a:p>
          <a:p xmlns:a="http://schemas.openxmlformats.org/drawingml/2006/main">
            <a:r>
              <a:t>금동대향로 봉황 용 악사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향로에 새겨진 모든 동물과 인물이 무엇을 뜻하는지 당시 기록에 남아 있어 완전히 밝혀졌습니다.</a:t>
            </a:r>
          </a:p>
          <a:p xmlns:a="http://schemas.openxmlformats.org/drawingml/2006/main">
            <a:r>
              <a:t>형상은 관찰되지만 모든 무늬의 뜻을 하나로 확정하기 어렵습니다.</a:t>
            </a:r>
          </a:p>
          <a:p xmlns:a="http://schemas.openxmlformats.org/drawingml/2006/main">
            <a:r>
              <a:t>금동대향로 무늬 의미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×</a:t>
            </a:r>
          </a:p>
          <a:p xmlns:a="http://schemas.openxmlformats.org/drawingml/2006/main">
            <a:r>
              <a:t>이 향로는 신라의 황룡사에서 만들어져 발견된 유물입니다.</a:t>
            </a:r>
          </a:p>
          <a:p xmlns:a="http://schemas.openxmlformats.org/drawingml/2006/main">
            <a:r>
              <a:t>부여 지역 절터에서 발견된 백제 유물입니다.</a:t>
            </a:r>
          </a:p>
          <a:p xmlns:a="http://schemas.openxmlformats.org/drawingml/2006/main">
            <a:r>
              <a:t>금동대향로 백제 신라</a:t>
            </a:r>
          </a:p>
          <a:p xmlns:a="http://schemas.openxmlformats.org/drawingml/2006/main">
            <a:r>
              <a:t>우선 확인처: 국립부여박물관 백제 금동대향로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3모둠 정답 · 첨성대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첨성대는 경주에 남아 있는 돌로 쌓은 신라시대 건축물입니다.</a:t>
            </a:r>
          </a:p>
          <a:p xmlns:a="http://schemas.openxmlformats.org/drawingml/2006/main">
            <a:r>
              <a:t>경주에 있는 석조 건축물임을 확인할 수 있습니다.</a:t>
            </a:r>
          </a:p>
          <a:p xmlns:a="http://schemas.openxmlformats.org/drawingml/2006/main">
            <a:r>
              <a:t>경주 첨성대 석조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국가유산 안내에서는 첨성대를 선덕여왕 때 세운 천문 관측대로 설명합니다.</a:t>
            </a:r>
          </a:p>
          <a:p xmlns:a="http://schemas.openxmlformats.org/drawingml/2006/main">
            <a:r>
              <a:t>공식 안내에 건립 시기와 천문 관측 관련 설명이 있습니다.</a:t>
            </a:r>
          </a:p>
          <a:p xmlns:a="http://schemas.openxmlformats.org/drawingml/2006/main">
            <a:r>
              <a:t>첨성대 선덕여왕 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첨성대 꼭대기에는 별을 확대해서 보는 망원경이 설치되어 있었습니다.</a:t>
            </a:r>
          </a:p>
          <a:p xmlns:a="http://schemas.openxmlformats.org/drawingml/2006/main">
            <a:r>
              <a:t>망원경은 첨성대가 세워진 시대보다 훨씬 뒤에 등장했습니다.</a:t>
            </a:r>
          </a:p>
          <a:p xmlns:a="http://schemas.openxmlformats.org/drawingml/2006/main">
            <a:r>
              <a:t>첨성대 망원경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첨성대는 나무 기둥과 기와로만 만든 건물이었습니다.</a:t>
            </a:r>
          </a:p>
          <a:p xmlns:a="http://schemas.openxmlformats.org/drawingml/2006/main">
            <a:r>
              <a:t>현재 남은 첨성대는 돌을 층층이 쌓은 구조물입니다.</a:t>
            </a:r>
          </a:p>
          <a:p xmlns:a="http://schemas.openxmlformats.org/drawingml/2006/main">
            <a:r>
              <a:t>첨성대 재료 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첨성대의 돌 개수와 모든 층의 수가 달력을 뜻한다는 사실이 옛 문헌으로 완전히 증명되었습니다.</a:t>
            </a:r>
          </a:p>
          <a:p xmlns:a="http://schemas.openxmlformats.org/drawingml/2006/main">
            <a:r>
              <a:t>숫자의 상징에는 여러 해석이 있어 확정된 사실로 보기 어렵습니다.</a:t>
            </a:r>
          </a:p>
          <a:p xmlns:a="http://schemas.openxmlformats.org/drawingml/2006/main">
            <a:r>
              <a:t>첨성대 돌 개수 학설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신라 사람들이 첨성대 안팎에서 별을 관찰한 정확한 방법은 학자들이 모두 같은 결론을 내렸습니다.</a:t>
            </a:r>
          </a:p>
          <a:p xmlns:a="http://schemas.openxmlformats.org/drawingml/2006/main">
            <a:r>
              <a:t>구체적인 사용 방법에는 여러 해석이 있습니다.</a:t>
            </a:r>
          </a:p>
          <a:p xmlns:a="http://schemas.openxmlformats.org/drawingml/2006/main">
            <a:r>
              <a:t>첨성대 사용 방법 학설</a:t>
            </a:r>
          </a:p>
          <a:p xmlns:a="http://schemas.openxmlformats.org/drawingml/2006/main">
            <a:r>
              <a:t>우선 확인처: 국가유산청 경주 첨성대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3모둠 정답 · 첨성대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첨성대는 경주에 남아 있는 돌로 쌓은 신라시대 건축물입니다.</a:t>
            </a:r>
          </a:p>
          <a:p xmlns:a="http://schemas.openxmlformats.org/drawingml/2006/main">
            <a:r>
              <a:t>경주에 있는 석조 건축물임을 확인할 수 있습니다.</a:t>
            </a:r>
          </a:p>
          <a:p xmlns:a="http://schemas.openxmlformats.org/drawingml/2006/main">
            <a:r>
              <a:t>경주 첨성대 석조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국가유산 안내에서는 첨성대를 선덕여왕 때 세운 천문 관측대로 설명합니다.</a:t>
            </a:r>
          </a:p>
          <a:p xmlns:a="http://schemas.openxmlformats.org/drawingml/2006/main">
            <a:r>
              <a:t>공식 안내에 건립 시기와 천문 관측 관련 설명이 있습니다.</a:t>
            </a:r>
          </a:p>
          <a:p xmlns:a="http://schemas.openxmlformats.org/drawingml/2006/main">
            <a:r>
              <a:t>첨성대 선덕여왕 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첨성대 꼭대기에는 별을 확대해서 보는 망원경이 설치되어 있었습니다.</a:t>
            </a:r>
          </a:p>
          <a:p xmlns:a="http://schemas.openxmlformats.org/drawingml/2006/main">
            <a:r>
              <a:t>망원경은 첨성대가 세워진 시대보다 훨씬 뒤에 등장했습니다.</a:t>
            </a:r>
          </a:p>
          <a:p xmlns:a="http://schemas.openxmlformats.org/drawingml/2006/main">
            <a:r>
              <a:t>첨성대 망원경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첨성대는 나무 기둥과 기와로만 만든 건물이었습니다.</a:t>
            </a:r>
          </a:p>
          <a:p xmlns:a="http://schemas.openxmlformats.org/drawingml/2006/main">
            <a:r>
              <a:t>현재 남은 첨성대는 돌을 층층이 쌓은 구조물입니다.</a:t>
            </a:r>
          </a:p>
          <a:p xmlns:a="http://schemas.openxmlformats.org/drawingml/2006/main">
            <a:r>
              <a:t>첨성대 재료 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첨성대의 돌 개수와 모든 층의 수가 달력을 뜻한다는 사실이 옛 문헌으로 완전히 증명되었습니다.</a:t>
            </a:r>
          </a:p>
          <a:p xmlns:a="http://schemas.openxmlformats.org/drawingml/2006/main">
            <a:r>
              <a:t>숫자의 상징에는 여러 해석이 있어 확정된 사실로 보기 어렵습니다.</a:t>
            </a:r>
          </a:p>
          <a:p xmlns:a="http://schemas.openxmlformats.org/drawingml/2006/main">
            <a:r>
              <a:t>첨성대 돌 개수 학설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신라 사람들이 첨성대 안팎에서 별을 관찰한 정확한 방법은 학자들이 모두 같은 결론을 내렸습니다.</a:t>
            </a:r>
          </a:p>
          <a:p xmlns:a="http://schemas.openxmlformats.org/drawingml/2006/main">
            <a:r>
              <a:t>구체적인 사용 방법에는 여러 해석이 있습니다.</a:t>
            </a:r>
          </a:p>
          <a:p xmlns:a="http://schemas.openxmlformats.org/drawingml/2006/main">
            <a:r>
              <a:t>첨성대 사용 방법 학설</a:t>
            </a:r>
          </a:p>
          <a:p xmlns:a="http://schemas.openxmlformats.org/drawingml/2006/main">
            <a:r>
              <a:t>우선 확인처: 국가유산청 경주 첨성대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4모둠 정답 · 신라 금관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신라 금관은 왕릉급의 큰 무덤에서 권위를 보여 주는 부장품으로 발견되었습니다.</a:t>
            </a:r>
          </a:p>
          <a:p xmlns:a="http://schemas.openxmlformats.org/drawingml/2006/main">
            <a:r>
              <a:t>출토 상황과 금관의 성격은 박물관 자료에서 확인됩니다.</a:t>
            </a:r>
          </a:p>
          <a:p xmlns:a="http://schemas.openxmlformats.org/drawingml/2006/main">
            <a:r>
              <a:t>신라 금관 부장품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금관에는 얇은 금판으로 만든 세움 장식과 굽은옥 같은 장식이 보입니다.</a:t>
            </a:r>
          </a:p>
          <a:p xmlns:a="http://schemas.openxmlformats.org/drawingml/2006/main">
            <a:r>
              <a:t>금관의 실제 형태와 장식에서 확인됩니다.</a:t>
            </a:r>
          </a:p>
          <a:p xmlns:a="http://schemas.openxmlformats.org/drawingml/2006/main">
            <a:r>
              <a:t>신라 금관 굽은옥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신라 금관은 오직 왕의 무덤에서만 발견되었으므로 모두 왕이 쓴 왕관입니다.</a:t>
            </a:r>
          </a:p>
          <a:p xmlns:a="http://schemas.openxmlformats.org/drawingml/2006/main">
            <a:r>
              <a:t>높은 신분의 인물 무덤에서도 발견되어 모두 왕의 관이라 단정할 수 없습니다.</a:t>
            </a:r>
          </a:p>
          <a:p xmlns:a="http://schemas.openxmlformats.org/drawingml/2006/main">
            <a:r>
              <a:t>신라 금관 왕족 무덤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발견된 금관은 모두 무덤 주인의 머리에 똑바로 씌워진 상태였습니다.</a:t>
            </a:r>
          </a:p>
          <a:p xmlns:a="http://schemas.openxmlformats.org/drawingml/2006/main">
            <a:r>
              <a:t>얼굴이나 가슴 부근 등 서로 다른 위치에서 발견된 사례가 있습니다.</a:t>
            </a:r>
          </a:p>
          <a:p xmlns:a="http://schemas.openxmlformats.org/drawingml/2006/main">
            <a:r>
              <a:t>신라 금관 출토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×</a:t>
            </a:r>
          </a:p>
          <a:p xmlns:a="http://schemas.openxmlformats.org/drawingml/2006/main">
            <a:r>
              <a:t>신라 사람들은 금관을 농사나 일상 노동을 할 때도 매일 쓰고 다녔습니다.</a:t>
            </a:r>
          </a:p>
          <a:p xmlns:a="http://schemas.openxmlformats.org/drawingml/2006/main">
            <a:r>
              <a:t>일상 작업용으로 사용했다는 근거는 없습니다.</a:t>
            </a:r>
          </a:p>
          <a:p xmlns:a="http://schemas.openxmlformats.org/drawingml/2006/main">
            <a:r>
              <a:t>신라 금관 일상 착용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금관이 생전에 실제로 착용된 것인지 장례를 위해 제작된 것인지에 대해서는 여러 연구 의견이 있습니다.</a:t>
            </a:r>
          </a:p>
          <a:p xmlns:a="http://schemas.openxmlformats.org/drawingml/2006/main">
            <a:r>
              <a:t>실제 착용설과 장례용 해석을 함께 살펴봐야 합니다.</a:t>
            </a:r>
          </a:p>
          <a:p xmlns:a="http://schemas.openxmlformats.org/drawingml/2006/main">
            <a:r>
              <a:t>신라 금관 실제 착용</a:t>
            </a:r>
          </a:p>
          <a:p xmlns:a="http://schemas.openxmlformats.org/drawingml/2006/main">
            <a:r>
              <a:t>우선 확인처: 국립중앙박물관 신라 금관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4모둠 정답 · 신라 금관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신라 금관은 왕릉급의 큰 무덤에서 권위를 보여 주는 부장품으로 발견되었습니다.</a:t>
            </a:r>
          </a:p>
          <a:p xmlns:a="http://schemas.openxmlformats.org/drawingml/2006/main">
            <a:r>
              <a:t>출토 상황과 금관의 성격은 박물관 자료에서 확인됩니다.</a:t>
            </a:r>
          </a:p>
          <a:p xmlns:a="http://schemas.openxmlformats.org/drawingml/2006/main">
            <a:r>
              <a:t>신라 금관 부장품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금관에는 얇은 금판으로 만든 세움 장식과 굽은옥 같은 장식이 보입니다.</a:t>
            </a:r>
          </a:p>
          <a:p xmlns:a="http://schemas.openxmlformats.org/drawingml/2006/main">
            <a:r>
              <a:t>금관의 실제 형태와 장식에서 확인됩니다.</a:t>
            </a:r>
          </a:p>
          <a:p xmlns:a="http://schemas.openxmlformats.org/drawingml/2006/main">
            <a:r>
              <a:t>신라 금관 굽은옥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신라 금관은 오직 왕의 무덤에서만 발견되었으므로 모두 왕이 쓴 왕관입니다.</a:t>
            </a:r>
          </a:p>
          <a:p xmlns:a="http://schemas.openxmlformats.org/drawingml/2006/main">
            <a:r>
              <a:t>높은 신분의 인물 무덤에서도 발견되어 모두 왕의 관이라 단정할 수 없습니다.</a:t>
            </a:r>
          </a:p>
          <a:p xmlns:a="http://schemas.openxmlformats.org/drawingml/2006/main">
            <a:r>
              <a:t>신라 금관 왕족 무덤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발견된 금관은 모두 무덤 주인의 머리에 똑바로 씌워진 상태였습니다.</a:t>
            </a:r>
          </a:p>
          <a:p xmlns:a="http://schemas.openxmlformats.org/drawingml/2006/main">
            <a:r>
              <a:t>얼굴이나 가슴 부근 등 서로 다른 위치에서 발견된 사례가 있습니다.</a:t>
            </a:r>
          </a:p>
          <a:p xmlns:a="http://schemas.openxmlformats.org/drawingml/2006/main">
            <a:r>
              <a:t>신라 금관 출토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×</a:t>
            </a:r>
          </a:p>
          <a:p xmlns:a="http://schemas.openxmlformats.org/drawingml/2006/main">
            <a:r>
              <a:t>신라 사람들은 금관을 농사나 일상 노동을 할 때도 매일 쓰고 다녔습니다.</a:t>
            </a:r>
          </a:p>
          <a:p xmlns:a="http://schemas.openxmlformats.org/drawingml/2006/main">
            <a:r>
              <a:t>일상 작업용으로 사용했다는 근거는 없습니다.</a:t>
            </a:r>
          </a:p>
          <a:p xmlns:a="http://schemas.openxmlformats.org/drawingml/2006/main">
            <a:r>
              <a:t>신라 금관 일상 착용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금관이 생전에 실제로 착용된 것인지 장례를 위해 제작된 것인지에 대해서는 여러 연구 의견이 있습니다.</a:t>
            </a:r>
          </a:p>
          <a:p xmlns:a="http://schemas.openxmlformats.org/drawingml/2006/main">
            <a:r>
              <a:t>실제 착용설과 장례용 해석을 함께 살펴봐야 합니다.</a:t>
            </a:r>
          </a:p>
          <a:p xmlns:a="http://schemas.openxmlformats.org/drawingml/2006/main">
            <a:r>
              <a:t>신라 금관 실제 착용</a:t>
            </a:r>
          </a:p>
          <a:p xmlns:a="http://schemas.openxmlformats.org/drawingml/2006/main">
            <a:r>
              <a:t>우선 확인처: 국립중앙박물관 신라 금관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5모둠 정답 · 고구려 고분벽화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고구려 고분벽화에는 사냥, 행렬, 생활 모습, 무늬와 사신도 같은 그림이 남아 있습니다.</a:t>
            </a:r>
          </a:p>
          <a:p xmlns:a="http://schemas.openxmlformats.org/drawingml/2006/main">
            <a:r>
              <a:t>벽화의 주제는 공식 자료에서 확인할 수 있습니다.</a:t>
            </a:r>
          </a:p>
          <a:p xmlns:a="http://schemas.openxmlformats.org/drawingml/2006/main">
            <a:r>
              <a:t>고구려 벽화 사냥 사신도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벽화무덤은 주로 왕족과 귀족의 무덤과 관련된 것으로 설명됩니다.</a:t>
            </a:r>
          </a:p>
          <a:p xmlns:a="http://schemas.openxmlformats.org/drawingml/2006/main">
            <a:r>
              <a:t>무덤의 규모와 내용을 바탕으로 왕족·귀족 무덤으로 봅니다.</a:t>
            </a:r>
          </a:p>
          <a:p xmlns:a="http://schemas.openxmlformats.org/drawingml/2006/main">
            <a:r>
              <a:t>고구려 벽화무덤 왕족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발견된 고구려 무덤에는 하나도 빠짐없이 모두 벽화가 그려져 있습니다.</a:t>
            </a:r>
          </a:p>
          <a:p xmlns:a="http://schemas.openxmlformats.org/drawingml/2006/main">
            <a:r>
              <a:t>고구려 무덤 가운데 일부에만 벽화가 남아 있습니다.</a:t>
            </a:r>
          </a:p>
          <a:p xmlns:a="http://schemas.openxmlformats.org/drawingml/2006/main">
            <a:r>
              <a:t>고구려 무덤 모두 벽화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고구려 고분벽화는 모두 현재 대한민국 안에서만 발견되었습니다.</a:t>
            </a:r>
          </a:p>
          <a:p xmlns:a="http://schemas.openxmlformats.org/drawingml/2006/main">
            <a:r>
              <a:t>북한과 중국 동북 지역에도 고구려 벽화무덤이 있습니다.</a:t>
            </a:r>
          </a:p>
          <a:p xmlns:a="http://schemas.openxmlformats.org/drawingml/2006/main">
            <a:r>
              <a:t>고구려 벽화 북한 중국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벽화에 보이는 장면은 모든 고구려 사람의 하루를 사진처럼 정확히 보여 줍니다.</a:t>
            </a:r>
          </a:p>
          <a:p xmlns:a="http://schemas.openxmlformats.org/drawingml/2006/main">
            <a:r>
              <a:t>왕족·귀족 무덤의 장면을 모든 사람의 생활로 일반화하면 안 됩니다.</a:t>
            </a:r>
          </a:p>
          <a:p xmlns:a="http://schemas.openxmlformats.org/drawingml/2006/main">
            <a:r>
              <a:t>고구려 벽화 생활 일반화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×</a:t>
            </a:r>
          </a:p>
          <a:p xmlns:a="http://schemas.openxmlformats.org/drawingml/2006/main">
            <a:r>
              <a:t>한 명의 유명한 화가가 고구려의 모든 고분벽화를 혼자 그렸다는 기록이 남아 있습니다.</a:t>
            </a:r>
          </a:p>
          <a:p xmlns:a="http://schemas.openxmlformats.org/drawingml/2006/main">
            <a:r>
              <a:t>모든 벽화를 한 사람이 그렸다는 기록은 확인되지 않습니다.</a:t>
            </a:r>
          </a:p>
          <a:p xmlns:a="http://schemas.openxmlformats.org/drawingml/2006/main">
            <a:r>
              <a:t>고구려 벽화 화가 기록</a:t>
            </a:r>
          </a:p>
          <a:p xmlns:a="http://schemas.openxmlformats.org/drawingml/2006/main">
            <a:r>
              <a:t>우선 확인처: UNESCO 고구려 고분군·국립박물관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5모둠 정답 · 고구려 고분벽화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고구려 고분벽화에는 사냥, 행렬, 생활 모습, 무늬와 사신도 같은 그림이 남아 있습니다.</a:t>
            </a:r>
          </a:p>
          <a:p xmlns:a="http://schemas.openxmlformats.org/drawingml/2006/main">
            <a:r>
              <a:t>벽화의 주제는 공식 자료에서 확인할 수 있습니다.</a:t>
            </a:r>
          </a:p>
          <a:p xmlns:a="http://schemas.openxmlformats.org/drawingml/2006/main">
            <a:r>
              <a:t>고구려 벽화 사냥 사신도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벽화무덤은 주로 왕족과 귀족의 무덤과 관련된 것으로 설명됩니다.</a:t>
            </a:r>
          </a:p>
          <a:p xmlns:a="http://schemas.openxmlformats.org/drawingml/2006/main">
            <a:r>
              <a:t>무덤의 규모와 내용을 바탕으로 왕족·귀족 무덤으로 봅니다.</a:t>
            </a:r>
          </a:p>
          <a:p xmlns:a="http://schemas.openxmlformats.org/drawingml/2006/main">
            <a:r>
              <a:t>고구려 벽화무덤 왕족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발견된 고구려 무덤에는 하나도 빠짐없이 모두 벽화가 그려져 있습니다.</a:t>
            </a:r>
          </a:p>
          <a:p xmlns:a="http://schemas.openxmlformats.org/drawingml/2006/main">
            <a:r>
              <a:t>고구려 무덤 가운데 일부에만 벽화가 남아 있습니다.</a:t>
            </a:r>
          </a:p>
          <a:p xmlns:a="http://schemas.openxmlformats.org/drawingml/2006/main">
            <a:r>
              <a:t>고구려 무덤 모두 벽화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고구려 고분벽화는 모두 현재 대한민국 안에서만 발견되었습니다.</a:t>
            </a:r>
          </a:p>
          <a:p xmlns:a="http://schemas.openxmlformats.org/drawingml/2006/main">
            <a:r>
              <a:t>북한과 중국 동북 지역에도 고구려 벽화무덤이 있습니다.</a:t>
            </a:r>
          </a:p>
          <a:p xmlns:a="http://schemas.openxmlformats.org/drawingml/2006/main">
            <a:r>
              <a:t>고구려 벽화 북한 중국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△</a:t>
            </a:r>
          </a:p>
          <a:p xmlns:a="http://schemas.openxmlformats.org/drawingml/2006/main">
            <a:r>
              <a:t>벽화에 보이는 장면은 모든 고구려 사람의 하루를 사진처럼 정확히 보여 줍니다.</a:t>
            </a:r>
          </a:p>
          <a:p xmlns:a="http://schemas.openxmlformats.org/drawingml/2006/main">
            <a:r>
              <a:t>왕족·귀족 무덤의 장면을 모든 사람의 생활로 일반화하면 안 됩니다.</a:t>
            </a:r>
          </a:p>
          <a:p xmlns:a="http://schemas.openxmlformats.org/drawingml/2006/main">
            <a:r>
              <a:t>고구려 벽화 생활 일반화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×</a:t>
            </a:r>
          </a:p>
          <a:p xmlns:a="http://schemas.openxmlformats.org/drawingml/2006/main">
            <a:r>
              <a:t>한 명의 유명한 화가가 고구려의 모든 고분벽화를 혼자 그렸다는 기록이 남아 있습니다.</a:t>
            </a:r>
          </a:p>
          <a:p xmlns:a="http://schemas.openxmlformats.org/drawingml/2006/main">
            <a:r>
              <a:t>모든 벽화를 한 사람이 그렸다는 기록은 확인되지 않습니다.</a:t>
            </a:r>
          </a:p>
          <a:p xmlns:a="http://schemas.openxmlformats.org/drawingml/2006/main">
            <a:r>
              <a:t>고구려 벽화 화가 기록</a:t>
            </a:r>
          </a:p>
          <a:p xmlns:a="http://schemas.openxmlformats.org/drawingml/2006/main">
            <a:r>
              <a:t>우선 확인처: UNESCO 고구려 고분군·국립박물관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6모둠 정답 · 가야 고분군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가야 고분군 세계유산은 여러 지역에 있는 일곱 고분군으로 이루어져 있습니다.</a:t>
            </a:r>
          </a:p>
          <a:p xmlns:a="http://schemas.openxmlformats.org/drawingml/2006/main">
            <a:r>
              <a:t>세계유산은 일곱 고분군으로 구성되어 있습니다.</a:t>
            </a:r>
          </a:p>
          <a:p xmlns:a="http://schemas.openxmlformats.org/drawingml/2006/main">
            <a:r>
              <a:t>가야 고분군 일곱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가야는 여러 정치체가 함께 존재한 연맹적 성격을 지녔으며 지역마다 차이도 있었습니다.</a:t>
            </a:r>
          </a:p>
          <a:p xmlns:a="http://schemas.openxmlformats.org/drawingml/2006/main">
            <a:r>
              <a:t>고분군은 가야 정치체의 공통점과 지역 차이를 보여 줍니다.</a:t>
            </a:r>
          </a:p>
          <a:p xmlns:a="http://schemas.openxmlformats.org/drawingml/2006/main">
            <a:r>
              <a:t>가야 여러 정치체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가야는 처음부터 한 명의 왕이 모든 지역을 다스린 하나의 중앙집권 제국이었습니다.</a:t>
            </a:r>
          </a:p>
          <a:p xmlns:a="http://schemas.openxmlformats.org/drawingml/2006/main">
            <a:r>
              <a:t>여러 정치체가 공존한 연맹적 성격으로 설명됩니다.</a:t>
            </a:r>
          </a:p>
          <a:p xmlns:a="http://schemas.openxmlformats.org/drawingml/2006/main">
            <a:r>
              <a:t>가야 중앙집권 제국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세계유산에 포함된 가야 고분군 일곱 곳은 모두 같은 한 도시 안에 있습니다.</a:t>
            </a:r>
          </a:p>
          <a:p xmlns:a="http://schemas.openxmlformats.org/drawingml/2006/main">
            <a:r>
              <a:t>고분군은 여러 지역에 분포합니다.</a:t>
            </a:r>
          </a:p>
          <a:p xmlns:a="http://schemas.openxmlformats.org/drawingml/2006/main">
            <a:r>
              <a:t>가야 고분군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○</a:t>
            </a:r>
          </a:p>
          <a:p xmlns:a="http://schemas.openxmlformats.org/drawingml/2006/main">
            <a:r>
              <a:t>가야 고분군은 2023년에 유네스코 세계유산으로 등재되었습니다.</a:t>
            </a:r>
          </a:p>
          <a:p xmlns:a="http://schemas.openxmlformats.org/drawingml/2006/main">
            <a:r>
              <a:t>2023년에 유네스코 세계유산으로 등재되었습니다.</a:t>
            </a:r>
          </a:p>
          <a:p xmlns:a="http://schemas.openxmlformats.org/drawingml/2006/main">
            <a:r>
              <a:t>가야 고분군 2023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고분 하나마다 묻힌 사람의 이름과 일생이 모두 문헌에 남아 있어 정확히 알 수 있습니다.</a:t>
            </a:r>
          </a:p>
          <a:p xmlns:a="http://schemas.openxmlformats.org/drawingml/2006/main">
            <a:r>
              <a:t>문헌이 부족해 무덤 주인과 일생을 모두 특정하기 어렵습니다.</a:t>
            </a:r>
          </a:p>
          <a:p xmlns:a="http://schemas.openxmlformats.org/drawingml/2006/main">
            <a:r>
              <a:t>가야 고분 주인 문헌</a:t>
            </a:r>
          </a:p>
          <a:p xmlns:a="http://schemas.openxmlformats.org/drawingml/2006/main">
            <a:r>
              <a:t>우선 확인처: 국가유산청 가야고분군·UNESCO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2차시</a:t>
            </a:r>
          </a:p>
          <a:p xmlns:a="http://schemas.openxmlformats.org/drawingml/2006/main">
            <a:r>
              <a:t>AI에게 물어보았습니다</a:t>
            </a:r>
          </a:p>
          <a:p xmlns:a="http://schemas.openxmlformats.org/drawingml/2006/main">
            <a:r>
              <a:t>삼국시대 · 교사용 수업 PPT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6모둠 정답 · 가야 고분군</a:t>
            </a:r>
          </a:p>
          <a:p xmlns:a="http://schemas.openxmlformats.org/drawingml/2006/main">
            <a:r>
              <a:t>이 모둠의 발표를 들은 뒤에 공개하세요.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후 공개</a:t>
            </a:r>
          </a:p>
          <a:p xmlns:a="http://schemas.openxmlformats.org/drawingml/2006/main">
            <a:r>
              <a:t>AI가 한 말</a:t>
            </a:r>
          </a:p>
          <a:p xmlns:a="http://schemas.openxmlformats.org/drawingml/2006/main">
            <a:r>
              <a:t>왜 그렇게 판단하나요</a:t>
            </a:r>
          </a:p>
          <a:p xmlns:a="http://schemas.openxmlformats.org/drawingml/2006/main">
            <a:r>
              <a:t>추천 검색어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○</a:t>
            </a:r>
          </a:p>
          <a:p xmlns:a="http://schemas.openxmlformats.org/drawingml/2006/main">
            <a:r>
              <a:t>가야 고분군 세계유산은 여러 지역에 있는 일곱 고분군으로 이루어져 있습니다.</a:t>
            </a:r>
          </a:p>
          <a:p xmlns:a="http://schemas.openxmlformats.org/drawingml/2006/main">
            <a:r>
              <a:t>세계유산은 일곱 고분군으로 구성되어 있습니다.</a:t>
            </a:r>
          </a:p>
          <a:p xmlns:a="http://schemas.openxmlformats.org/drawingml/2006/main">
            <a:r>
              <a:t>가야 고분군 일곱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○</a:t>
            </a:r>
          </a:p>
          <a:p xmlns:a="http://schemas.openxmlformats.org/drawingml/2006/main">
            <a:r>
              <a:t>가야는 여러 정치체가 함께 존재한 연맹적 성격을 지녔으며 지역마다 차이도 있었습니다.</a:t>
            </a:r>
          </a:p>
          <a:p xmlns:a="http://schemas.openxmlformats.org/drawingml/2006/main">
            <a:r>
              <a:t>고분군은 가야 정치체의 공통점과 지역 차이를 보여 줍니다.</a:t>
            </a:r>
          </a:p>
          <a:p xmlns:a="http://schemas.openxmlformats.org/drawingml/2006/main">
            <a:r>
              <a:t>가야 여러 정치체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×</a:t>
            </a:r>
          </a:p>
          <a:p xmlns:a="http://schemas.openxmlformats.org/drawingml/2006/main">
            <a:r>
              <a:t>가야는 처음부터 한 명의 왕이 모든 지역을 다스린 하나의 중앙집권 제국이었습니다.</a:t>
            </a:r>
          </a:p>
          <a:p xmlns:a="http://schemas.openxmlformats.org/drawingml/2006/main">
            <a:r>
              <a:t>여러 정치체가 공존한 연맹적 성격으로 설명됩니다.</a:t>
            </a:r>
          </a:p>
          <a:p xmlns:a="http://schemas.openxmlformats.org/drawingml/2006/main">
            <a:r>
              <a:t>가야 중앙집권 제국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×</a:t>
            </a:r>
          </a:p>
          <a:p xmlns:a="http://schemas.openxmlformats.org/drawingml/2006/main">
            <a:r>
              <a:t>세계유산에 포함된 가야 고분군 일곱 곳은 모두 같은 한 도시 안에 있습니다.</a:t>
            </a:r>
          </a:p>
          <a:p xmlns:a="http://schemas.openxmlformats.org/drawingml/2006/main">
            <a:r>
              <a:t>고분군은 여러 지역에 분포합니다.</a:t>
            </a:r>
          </a:p>
          <a:p xmlns:a="http://schemas.openxmlformats.org/drawingml/2006/main">
            <a:r>
              <a:t>가야 고분군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○</a:t>
            </a:r>
          </a:p>
          <a:p xmlns:a="http://schemas.openxmlformats.org/drawingml/2006/main">
            <a:r>
              <a:t>가야 고분군은 2023년에 유네스코 세계유산으로 등재되었습니다.</a:t>
            </a:r>
          </a:p>
          <a:p xmlns:a="http://schemas.openxmlformats.org/drawingml/2006/main">
            <a:r>
              <a:t>2023년에 유네스코 세계유산으로 등재되었습니다.</a:t>
            </a:r>
          </a:p>
          <a:p xmlns:a="http://schemas.openxmlformats.org/drawingml/2006/main">
            <a:r>
              <a:t>가야 고분군 2023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△</a:t>
            </a:r>
          </a:p>
          <a:p xmlns:a="http://schemas.openxmlformats.org/drawingml/2006/main">
            <a:r>
              <a:t>고분 하나마다 묻힌 사람의 이름과 일생이 모두 문헌에 남아 있어 정확히 알 수 있습니다.</a:t>
            </a:r>
          </a:p>
          <a:p xmlns:a="http://schemas.openxmlformats.org/drawingml/2006/main">
            <a:r>
              <a:t>문헌이 부족해 무덤 주인과 일생을 모두 특정하기 어렵습니다.</a:t>
            </a:r>
          </a:p>
          <a:p xmlns:a="http://schemas.openxmlformats.org/drawingml/2006/main">
            <a:r>
              <a:t>가야 고분 주인 문헌</a:t>
            </a:r>
          </a:p>
          <a:p xmlns:a="http://schemas.openxmlformats.org/drawingml/2006/main">
            <a:r>
              <a:t>우선 확인처: 국가유산청 가야고분군·UNESCO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학교용 간단 활동지의 1·2·3번과 같은 순서로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{"id":2,"label":"2·3차시","title":"AI가 한 말 확인하기","tasks":[{"title":"내 판단 표시하기","instruction":"AI가 한 말 여섯 개를 읽고 ○ × △ ? 중 하나에 동그라미 해요.","tip":"처음에는 내 생각대로 표시해요. 나중에 바꿔도 괜찮아요."},{"title":"자료에서 확인하기","instruction":"공식 자료를 읽고, 확인한 출처의 번호를 적어요.","tip":"1 국가유산청 · 2 국립박물관 · 3 유네스코 · 4 그 밖의 자료"},{"title":"오늘의 한 문장","instruction":"문장 하나를 골라 판단과 출처를 말한 뒤, 오늘의 한 문장을 완성해요.","tip":"확인한 자료가 없으면 ?로 남겨요."}]}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검증 문장과 교사용 근거: scripts/generate_lesson2_onepage.py DATA[three-kingdoms]</a:t>
            </a:r>
          </a:p>
          <a:p xmlns:a="http://schemas.openxmlformats.org/drawingml/2006/main">
            <a:r>
              <a:t>수업 자료의 원문 링크: src/content/three-kingdoms/webActivities.ts</a:t>
            </a:r>
          </a:p>
          <a:p xmlns:a="http://schemas.openxmlformats.org/drawingml/2006/main">
            <a:r>
              <a:t>https://www.heritage.go.kr/</a:t>
            </a:r>
          </a:p>
          <a:p xmlns:a="http://schemas.openxmlformats.org/drawingml/2006/main">
            <a:r>
              <a:t>https://www.museum.go.kr/</a:t>
            </a:r>
          </a:p>
          <a:p xmlns:a="http://schemas.openxmlformats.org/drawingml/2006/main">
            <a:r>
              <a:t>https://whc.unesco.org/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101a24f0941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5040e346f4d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3fc9802a44b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8c36f08114c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bc9bf901049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765f1de894b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ec256310e4b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05ce89a4349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1e3b28ec843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c945f22a947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088509afb474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6AA652-AC98-477C-B37B-67929B0FA98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ABA7E-4AD3-4C0A-9258-B16F6591D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A2A22D-970D-4BBD-8317-2E3798D18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59A534-5A3B-4F6D-BA2E-A3C6C488C4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DB7C89-6168-4ED9-A503-024A855AE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74AB9-642B-4D87-BF17-681FAA4FB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8DF744-1B88-4267-8A39-EADB51B98B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42533E-8B62-4CBF-B4ED-663DDB67B6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8B9E18-CD59-49F9-B7ED-43643F072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9404A5-D000-4A0A-9E76-84EA2C6394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79E59C1-D228-4EEE-B287-BA99FA4AB8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8F61DD-86AF-4D11-B799-0FC8D9D9F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3C1F1A-C7A7-447E-B1C1-020BF54E4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715A9F-2070-473E-AF13-A5C1B9A287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80A001-E56F-4902-855F-40EB2E66A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40EF681-D0C9-475F-821C-66D9101CAA7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2D6A2D-15EA-4EF3-B5F2-FE64FE6FA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78A7A0-92D8-44AB-8944-480833627F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629A1D-1041-43F7-A835-E4F771818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D3343A-1CAD-491E-9DEB-7BDCEB4A7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b0357260346ea" /><Relationship Type="http://schemas.openxmlformats.org/officeDocument/2006/relationships/slideLayout" Target="/ppt/slideLayouts/slideLayout1.xml" Id="R7901d1cfc2db47bb" /><Relationship Type="http://schemas.openxmlformats.org/officeDocument/2006/relationships/slideLayout" Target="/ppt/slideLayouts/slideLayout2.xml" Id="R2c8bd84d0cbd4dd1" /><Relationship Type="http://schemas.openxmlformats.org/officeDocument/2006/relationships/slideLayout" Target="/ppt/slideLayouts/slideLayout3.xml" Id="Rcf400bd746a54e6f" /><Relationship Type="http://schemas.openxmlformats.org/officeDocument/2006/relationships/slideLayout" Target="/ppt/slideLayouts/slideLayout4.xml" Id="R06ce9c54443f4028" /><Relationship Type="http://schemas.openxmlformats.org/officeDocument/2006/relationships/slideLayout" Target="/ppt/slideLayouts/slideLayout5.xml" Id="R40aaf3e8e7244262" /><Relationship Type="http://schemas.openxmlformats.org/officeDocument/2006/relationships/slideLayout" Target="/ppt/slideLayouts/slideLayout6.xml" Id="R676198802e6c4d27" /><Relationship Type="http://schemas.openxmlformats.org/officeDocument/2006/relationships/slideLayout" Target="/ppt/slideLayouts/slideLayout7.xml" Id="Rfc1edf0e87f74c72" /><Relationship Type="http://schemas.openxmlformats.org/officeDocument/2006/relationships/slideLayout" Target="/ppt/slideLayouts/slideLayout8.xml" Id="R2604df0bbaf041ff" /><Relationship Type="http://schemas.openxmlformats.org/officeDocument/2006/relationships/slideLayout" Target="/ppt/slideLayouts/slideLayout9.xml" Id="R8fdc9798d773482f" /><Relationship Type="http://schemas.openxmlformats.org/officeDocument/2006/relationships/slideLayout" Target="/ppt/slideLayouts/slideLayout10.xml" Id="R47ac04250a034b3d" /><Relationship Type="http://schemas.openxmlformats.org/officeDocument/2006/relationships/slideLayout" Target="/ppt/slideLayouts/slideLayout11.xml" Id="Ra85bea565c4e4a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1d1cfc2db47bb"/>
    <p:sldLayoutId xmlns:r="http://schemas.openxmlformats.org/officeDocument/2006/relationships" id="2147483650" r:id="R2c8bd84d0cbd4dd1"/>
    <p:sldLayoutId xmlns:r="http://schemas.openxmlformats.org/officeDocument/2006/relationships" id="2147483651" r:id="Rcf400bd746a54e6f"/>
    <p:sldLayoutId xmlns:r="http://schemas.openxmlformats.org/officeDocument/2006/relationships" id="2147483652" r:id="R06ce9c54443f4028"/>
    <p:sldLayoutId xmlns:r="http://schemas.openxmlformats.org/officeDocument/2006/relationships" id="2147483653" r:id="R40aaf3e8e7244262"/>
    <p:sldLayoutId xmlns:r="http://schemas.openxmlformats.org/officeDocument/2006/relationships" id="2147483654" r:id="R676198802e6c4d27"/>
    <p:sldLayoutId xmlns:r="http://schemas.openxmlformats.org/officeDocument/2006/relationships" id="2147483655" r:id="Rfc1edf0e87f74c72"/>
    <p:sldLayoutId xmlns:r="http://schemas.openxmlformats.org/officeDocument/2006/relationships" id="2147483656" r:id="R2604df0bbaf041ff"/>
    <p:sldLayoutId xmlns:r="http://schemas.openxmlformats.org/officeDocument/2006/relationships" id="2147483657" r:id="R8fdc9798d773482f"/>
    <p:sldLayoutId xmlns:r="http://schemas.openxmlformats.org/officeDocument/2006/relationships" id="2147483658" r:id="R47ac04250a034b3d"/>
    <p:sldLayoutId xmlns:r="http://schemas.openxmlformats.org/officeDocument/2006/relationships" id="2147483659" r:id="Ra85bea565c4e4a3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c7221d1f134c73" /><Relationship Type="http://schemas.openxmlformats.org/officeDocument/2006/relationships/notesSlide" Target="/ppt/notesSlides/notesSlide1.xml" Id="Ra53caf9e6f414e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c4fad9dc6c461b" /><Relationship Type="http://schemas.openxmlformats.org/officeDocument/2006/relationships/notesSlide" Target="/ppt/notesSlides/notesSlide2.xml" Id="R6b8611c25283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28059ad78b4d4d" /><Relationship Type="http://schemas.openxmlformats.org/officeDocument/2006/relationships/notesSlide" Target="/ppt/notesSlides/notesSlide3.xml" Id="R07458527fc6f4f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2c5a5b21f94537" /><Relationship Type="http://schemas.openxmlformats.org/officeDocument/2006/relationships/notesSlide" Target="/ppt/notesSlides/notesSlide4.xml" Id="Raf1749e195a8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c6c1388f9440a" /><Relationship Type="http://schemas.openxmlformats.org/officeDocument/2006/relationships/notesSlide" Target="/ppt/notesSlides/notesSlide5.xml" Id="R7aab2e48bcbc49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0b96a5d57b4a4d" /><Relationship Type="http://schemas.openxmlformats.org/officeDocument/2006/relationships/notesSlide" Target="/ppt/notesSlides/notesSlide6.xml" Id="R6e22e10db1494b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13debfe7f54a12" /><Relationship Type="http://schemas.openxmlformats.org/officeDocument/2006/relationships/notesSlide" Target="/ppt/notesSlides/notesSlide7.xml" Id="R6e859eec8280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96064df8e44e48" /><Relationship Type="http://schemas.openxmlformats.org/officeDocument/2006/relationships/notesSlide" Target="/ppt/notesSlides/notesSlide8.xml" Id="Rd597ad7866ab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ad938853d64c4a" /><Relationship Type="http://schemas.openxmlformats.org/officeDocument/2006/relationships/notesSlide" Target="/ppt/notesSlides/notesSlide9.xml" Id="R67f06253d60945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e0e3b958984ca0" /><Relationship Type="http://schemas.openxmlformats.org/officeDocument/2006/relationships/notesSlide" Target="/ppt/notesSlides/notesSlide10.xml" Id="R5296ad2bcd974b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6cd2b4a89c4a65" /><Relationship Type="http://schemas.openxmlformats.org/officeDocument/2006/relationships/notesSlide" Target="/ppt/notesSlides/notesSlide11.xml" Id="R46a45caf4da141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bbab9553654597" /><Relationship Type="http://schemas.openxmlformats.org/officeDocument/2006/relationships/notesSlide" Target="/ppt/notesSlides/notesSlide12.xml" Id="R3de7f6948c8d4c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4bd33ab1e640d8" /><Relationship Type="http://schemas.openxmlformats.org/officeDocument/2006/relationships/notesSlide" Target="/ppt/notesSlides/notesSlide13.xml" Id="R29d91bf6428d43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01b4bdc17a433d" /><Relationship Type="http://schemas.openxmlformats.org/officeDocument/2006/relationships/notesSlide" Target="/ppt/notesSlides/notesSlide14.xml" Id="R740b34c3273148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20267649494197" /><Relationship Type="http://schemas.openxmlformats.org/officeDocument/2006/relationships/notesSlide" Target="/ppt/notesSlides/notesSlide15.xml" Id="R7cf1d07168bb47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d5fd4b558f424b" /><Relationship Type="http://schemas.openxmlformats.org/officeDocument/2006/relationships/notesSlide" Target="/ppt/notesSlides/notesSlide16.xml" Id="R425120a7b8bc43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937c2475dd4292" /><Relationship Type="http://schemas.openxmlformats.org/officeDocument/2006/relationships/notesSlide" Target="/ppt/notesSlides/notesSlide17.xml" Id="R093c92b7058446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7c746e9b0145ea" /><Relationship Type="http://schemas.openxmlformats.org/officeDocument/2006/relationships/notesSlide" Target="/ppt/notesSlides/notesSlide18.xml" Id="R41c78abd585b4e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9e62f9bbb1476c" /><Relationship Type="http://schemas.openxmlformats.org/officeDocument/2006/relationships/notesSlide" Target="/ppt/notesSlides/notesSlide19.xml" Id="R65fc1c27cd204f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fc299e66144732" /><Relationship Type="http://schemas.openxmlformats.org/officeDocument/2006/relationships/notesSlide" Target="/ppt/notesSlides/notesSlide20.xml" Id="Re0497e3b25ec47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FCE6924-B635-46DC-99BA-6CF182F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AEAAEB-35F0-4E5B-A9B5-E9F8918A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DBB347-A3E2-4B7D-A8E6-A4A38BF3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85800"/>
            <a:ext cx="548640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삼국시대 · 2·3차시 통합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95E807-7BCF-4F79-A489-6B48920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61872"/>
            <a:ext cx="9875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0294F19-313F-4AF3-9208-DE4E829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88920"/>
            <a:ext cx="105613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331350-9CCA-4F78-B205-E692DEC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88920"/>
            <a:ext cx="9144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0FF35A-0691-4A1F-A3FA-EA882091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999232"/>
            <a:ext cx="9784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핵심 질문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6CA069E-270C-456E-83E6-54F1F284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364992"/>
            <a:ext cx="97840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“1500년 전 이야기, AI는 어떻게 알고 있을까?”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A89203F-7C65-4F82-A56B-E411DDE8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17720"/>
            <a:ext cx="1051560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활동지 한 장으로
판단하기 · 자료 확인하기 · 한 문장 쓰기</a:t>
            </a:r>
          </a:p>
        </p:txBody>
      </p:sp>
    </p:spTree>
    <p:extLst>
      <p:ext uri="{BB962C8B-B14F-4D97-AF65-F5344CB8AC3E}">
        <p14:creationId xmlns:p14="http://schemas.microsoft.com/office/powerpoint/2010/main" val="942030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4D2E94-EFF9-4A2B-99C9-BD02C5C6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3B17C6D-1C9E-43DC-8875-8502724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EC9B5E-6CE2-4635-9FDE-422AA1D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871762-F6EF-4D42-A9D1-906DFE34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0A8792-5F91-4656-BC36-22071FF0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5D95E27-E0E4-4740-9171-CBCEE04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3A2A2DE-8D54-4D24-9F4E-B27B52E8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AI의 역사 설명을 얼마나 믿나요?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CB905A-AFC4-47A3-AF5B-D347BC8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손을 들어 봅시다. 정답은 없습니다.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70AE59B-2514-4CB8-AEE3-A6DD1AB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34290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37E7398-23C2-400A-8AA4-EA8B3DC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342900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거의 다 맞을 것 같다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A7F90A7-D2EA-4675-9E3B-4856FB2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148840"/>
            <a:ext cx="34290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6D9AEE-6555-4F97-980B-3EC1C241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148840"/>
            <a:ext cx="342900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반쯤은 맞을 것 같다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5F70CC3-9D72-40AF-9F3D-6CAB258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34290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8EC188E-67E1-4779-B93F-0612157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342900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그대로 믿기는 어렵다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E4CC865-9E23-4A00-AD52-BB21AD3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오늘은 AI가 우리 모둠 유산을 설명한 6문장을 직접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774449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활동지 순서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종이에는 판단 기호와 출처 번호만 짧게 적어요.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우리 모둠 활동지 1 → 2 → 3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1. 내 판단 표시하기 · ○ × △ ? 중 하나를 골라요.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2. 자료에서 확인하기 · 읽은 출처의 번호를 적어요.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3. 오늘의 한 문장 · 왜 확인해야 할지 말해요.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B1802F-5A47-46B3-A81A-4F4A7BD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3BBE6C9-16B8-4068-842E-2C8F272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15CFEC-F73F-47AC-960E-301EA53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1BDE6A-35DC-4B4B-9634-9F4D756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4A4BF9-55C2-46E0-9B7F-5BD0202C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3974B92-9354-4349-BE4D-64C44BCE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B54D22-6459-44C3-8ED7-48859692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1. 내 판단 표시하기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2631E0-428D-45D0-810C-710778A6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내 판단 (○×△?) 칸에 동그라미 해요. 확인한 뒤 바꿔도 돼요.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E10E00B-5169-429E-BF3E-93C55D8B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E3DCD9-B2B5-4BB9-97E1-EDC2B67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○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A387572-1804-4FA6-9391-1BB98844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00400"/>
            <a:ext cx="21945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자료로 확인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EE5373D-26EF-448F-A9E8-A73BC92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4D4D69-E3D1-482B-825A-430BD62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×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2FC078-CC5C-483E-972C-3F8B99A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200400"/>
            <a:ext cx="21945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자료와 다름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4CAC986-8681-4963-B7E6-5B78E51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6C9A370-085B-40B7-A8C6-4220564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△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6CFBBE3-BD51-4801-B496-E32872F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3200400"/>
            <a:ext cx="21945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의견 나뉨·근거 부족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F35A23D-6E57-4BF4-8708-778D53D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7BC22F6-3612-4814-9079-BD301A10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?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C57232-FAE9-4E8F-82C5-EB4FD722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7" y="3200400"/>
            <a:ext cx="21945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더 찾아봐야 함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5683A34-4747-4669-B30D-811EFC7B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0600"/>
            <a:ext cx="1001268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146F1FE-38DB-483A-8529-2F7C185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00600"/>
            <a:ext cx="97383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△와 ?도 정답이 될 수 있습니다. 모르는 것을 억지로 채우지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47935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86391C-24A7-43B1-B646-52D3285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D464E00-21F9-4DB1-B61A-2A070A1C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E94F22-CE43-45E4-A4CB-ECC85253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C0C960-D331-46DB-8B9D-26F5E8E4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656AA73-D41A-4E55-A0A8-FA06C868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A9FC2E-F9FA-41B5-BB5C-A6BBB68F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DEAAFDC-DF62-4942-98CD-92BC57B4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활동 화면 여는 방법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E507FA5-0D8F-42FC-B764-AF307F9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로그인 없이 우리 모둠만 고르면 바로 시작합니다.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402F658-DBEA-452D-A2D7-4039C8F6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106070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DF68A77-9570-4608-B7C1-08AD570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10972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1F0E01A-B66F-4EE0-A3BE-C72F5B3B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11680"/>
            <a:ext cx="1014984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수업 사이트 → 삼국시대 → 2차시 → ‘활동지 수업’ 탭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19D0BCB-9CE9-4B5A-A5D2-C64675EA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10128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선생님이 알려 준 수업 링크에서 우리 모둠을 골라요.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5374624-DC3B-4D01-AED1-3627BBC7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39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6E208A2-3F16-4322-BDDC-64966AE9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86200"/>
            <a:ext cx="99669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학생 로그인이 없습니다. 우리 모둠만 고르면 됩니다.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C2A3BAD-BD75-4EEE-A100-44998147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7448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6B61762-5471-4713-B6A3-ABC5485A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36008"/>
            <a:ext cx="99669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이 화면은 내 판단만 저장하고 정답·점수는 보여 주지 않습니다.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8F4E563-D9C8-4276-B1BD-D7413EE9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5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27C359-1F81-4E58-B18C-804750A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85816"/>
            <a:ext cx="99669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종이 활동지와 화면의 문장 번호는 똑같습니다.</a:t>
            </a:r>
          </a:p>
        </p:txBody>
      </p:sp>
    </p:spTree>
    <p:extLst>
      <p:ext uri="{BB962C8B-B14F-4D97-AF65-F5344CB8AC3E}">
        <p14:creationId xmlns:p14="http://schemas.microsoft.com/office/powerpoint/2010/main" val="20203830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71CEBD-60A3-4756-8F1D-2AA48CC7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94946CB-F08B-4584-A3F9-10606C08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9C77A0-31D0-434F-9546-0FB80B0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100605-12BC-4425-A933-77680D20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7012620-522A-4CD9-9B96-147D778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C93E14-7395-41A8-8A36-931656CC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C69425-69DB-4146-80FB-205CD654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활동 시간 안내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2AF6F8-9E14-414C-9FCF-559695E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35분을 네 덩어리로 나눕니다.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A167001-B946-43BA-82B2-2F16A045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13716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DB972D-80A4-42B6-838E-6D8CA4A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137160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8분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441B5F-2B25-4479-ABED-14CF70B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975104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1. 내 판단 표시하기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EF50B6-8BBD-4F25-8CE6-75DB4988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395728"/>
            <a:ext cx="8778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6문장을 ○×△?로 표시합니다.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2816F1-99C4-44A9-BC09-5977922F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35808"/>
            <a:ext cx="13716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CCFED33-D159-48A9-B947-7B427438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35808"/>
            <a:ext cx="137160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12분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B7FF20-4FBC-4EEE-808D-CEDCF8E7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99232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2. 자료에서 확인하기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537FC9-1BB3-4A61-AAFE-232E8E8B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419856"/>
            <a:ext cx="8778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자료를 읽고 ‘확인한 출처’에 번호를 적어요.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8302E88-E7EB-4764-B41B-A4C33369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9936"/>
            <a:ext cx="13716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CADFD1F-FD90-40E4-A26B-31F9A2E7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9936"/>
            <a:ext cx="137160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7분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03A5CE3-F840-4EB1-A941-716D709E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02336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모둠 발표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36BEE6-E52B-4485-94A2-4F081D2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443984"/>
            <a:ext cx="8778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문장 번호 → 내 판단 → 확인한 출처 순서로 말합니다.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7067546-EF0B-403D-A8FE-2325E3A6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84064"/>
            <a:ext cx="13716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FAD9E69-AD4C-4E3E-B9B5-47113E4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84064"/>
            <a:ext cx="137160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8분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81372FA-1FB5-4AB0-9E50-0837B721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04748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3. 오늘의 한 문장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B690B99-7AD9-4C77-91A3-3E5DB94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468112"/>
            <a:ext cx="8778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발표한 모둠부터 정답을 보고 ‘오늘의 한 문장’을 씁니다.</a:t>
            </a:r>
          </a:p>
        </p:txBody>
      </p:sp>
    </p:spTree>
    <p:extLst>
      <p:ext uri="{BB962C8B-B14F-4D97-AF65-F5344CB8AC3E}">
        <p14:creationId xmlns:p14="http://schemas.microsoft.com/office/powerpoint/2010/main" val="1031147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121ED0-5220-4C3E-A1A1-2E7E9CD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9D74821-3A67-4806-90A8-192A638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01E8A6-14C3-4331-8A6F-693EB8C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4E1CE4-CA55-42EF-81E0-C85EFE4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2E0FD0-030C-41C7-B7EC-3E21F14A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F5FE2F-212E-4835-BF5F-6097134C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C62EA2-2F26-4D6C-80D3-2BAAB88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2. 자료에서 확인하기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3F7CD96-14C5-4EF1-97C1-4CBDB8B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38528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좋은 검색어 만들기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2FB77FD-4591-44DD-A55D-48637584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52120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F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84E0FB-C219-4FF2-B92F-1452453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95728"/>
            <a:ext cx="48463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A3E3E"/>
                </a:solidFill>
                <a:latin typeface="S-Core Dream"/>
                <a:ea typeface="S-Core Dream"/>
                <a:cs typeface="S-Core Dream"/>
              </a:rPr>
              <a:t>✕  AI 문장 전체를 그대로 붙여넣기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3B4E5AD-7D49-4589-B7FC-0D240F0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84448"/>
            <a:ext cx="52120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93A8CD0-629F-48C6-9CB8-9D4FDE9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84448"/>
            <a:ext cx="48463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○  핵심 낱말 2~4개 + 확인할 쟁점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EC5098A-632C-45B8-8990-73B8D75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3168"/>
            <a:ext cx="52120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문장 전체가 아니라 확인할 핵심만 남깁니다.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80EB00-3D07-431C-BB1F-C966B287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38528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확인한 출처 · 활동지 번호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A6281C0-393B-4FB7-964D-3742147E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5728"/>
            <a:ext cx="50292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A67B70C-D62B-48E6-AE84-11242C43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95728"/>
            <a:ext cx="46634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  국가유산청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51022C4-79C5-458B-8BBF-0F7D886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08960"/>
            <a:ext cx="50292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616CBA-73CB-4272-9064-93B9435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08960"/>
            <a:ext cx="46634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  국립박물관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9A7671A-8E5A-40C1-9DB2-3C3610E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22191"/>
            <a:ext cx="50292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423B98-490A-46EC-8223-C4952DA4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22191"/>
            <a:ext cx="46634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  유네스코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D0A662E-9F6F-480E-A397-55912ED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35424"/>
            <a:ext cx="50292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3A2AFB7-F048-44F9-9142-3B0F1CE1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35424"/>
            <a:ext cx="46634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4  그 밖의 자료 · 이름도 적어요.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C90D1C-A989-4202-893B-B3ACF989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230368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읽은 자료의 번호를 적고, 확인한 문장을 말해요.</a:t>
            </a:r>
          </a:p>
        </p:txBody>
      </p:sp>
    </p:spTree>
    <p:extLst>
      <p:ext uri="{BB962C8B-B14F-4D97-AF65-F5344CB8AC3E}">
        <p14:creationId xmlns:p14="http://schemas.microsoft.com/office/powerpoint/2010/main" val="5415907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1모둠 정답 · 무령왕릉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무령왕릉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1971년 배수로 공사 중 발견했어요.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지석으로 무덤 주인을 확인했어요.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도굴되지 않아 많은 유물이 남았어요.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1모둠 정답 · 무령왕릉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무령왕릉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공사 중 발견했어요. 학생이 아니에요.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진묘수·관식 등 여러 유물이 나왔어요.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지석만으로 모든 쓰임을 알 수는 없어요.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2모둠 정답 · 백제 금동대향로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백제 금동대향로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1993년 능산리 절터에서 발견했어요.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청동 바탕에 금을 입힌 유물이에요.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무덤이 아니라 절터에서 나왔어요.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2모둠 정답 · 백제 금동대향로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백제 금동대향로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봉황·용·악사 등의 장식이 보여요.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모든 무늬의 뜻을 확정하기 어려워요.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신라 황룡사가 아니라 백제 유물이에요.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3모둠 정답 · 첨성대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첨성대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경주에 남아 있는 신라 석조 건축물이에요.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공식 안내는 선덕여왕 때 관측대로 설명해요.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망원경은 훨씬 뒤에 등장했어요.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3모둠 정답 · 첨성대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첨성대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나무가 아니라 돌로 쌓았어요.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숫자의 뜻에는 여러 해석이 있어요.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정확한 사용 방법에는 여러 의견이 있어요.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4모둠 정답 · 신라 금관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신라 금관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큰 무덤에서 권위를 보여 주는 유물이에요.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금판 장식과 굽은옥이 보여요.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모두 왕의 관이라고 단정할 수 없어요.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4모둠 정답 · 신라 금관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신라 금관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서로 다른 위치에서 발견되기도 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일할 때 매일 썼다는 근거는 없어요.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실제 착용과 장례용이라는 의견이 있어요.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5모둠 정답 · 고구려 고분벽화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고구려 고분벽화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사냥·행렬·생활 등의 그림이 남아 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주로 왕족·귀족 무덤과 관련돼요.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일부 무덤에만 벽화가 남아 있어요.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5모둠 정답 · 고구려 고분벽화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고구려 고분벽화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북한과 중국에도 벽화무덤이 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모든 사람의 하루를 보여 주지는 않아요.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한 사람이 모두 그렸다는 기록은 없어요.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6모둠 정답 · 가야 고분군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가야 고분군 · 1~3번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세계유산은 일곱 고분군으로 이루어져요.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여러 정치체가 함께 있었어요.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한 왕이 다스린 제국으로 보기 어려워요.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CAE2BB-B31E-4DE5-950E-B7D1ED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6647912-D73B-4348-AE06-6199873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A18F3D-2382-4627-8542-BD84289A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DF13EA-9A27-40ED-8052-8D0BD76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453BA8-2186-4DB7-B423-CB3065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E3FBDC8-BCC0-451D-9FE8-116A62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9A82D3-397B-4EDE-BD7F-1D6FAA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6모둠 정답 · 가야 고분군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09540B-9FC9-4E2E-8E76-7237FE0F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우리 모둠 발표를 마친 뒤 확인해요.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BDE6E0-1514-40A7-93D3-FE9114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0704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D0F596-1C68-4229-A1F3-DD5EF9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149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가야 고분군 · 4~6번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DC6DF2-2AB9-4EE7-A156-FCDF1CD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4600B9-50B4-4017-9888-55C16AE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FF1746-1E93-4C52-A015-4A3533A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여러 지역에 나뉘어 있어요.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3E85F27-EA27-40CA-8058-6C8E63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442B53-1DAF-4399-9104-60929A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F8E21C-29F3-47DF-93B9-33E6538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08576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2023년에 세계유산이 되었어요.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4BEEE8-A0CD-4331-95FF-06FACC2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9A3DF1-E8AE-410C-A85B-51934F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FAE200-631E-461B-AA0E-110168E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49824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모든 무덤 주인의 일생을 알 수는 없어요.</a:t>
            </a:r>
          </a:p>
        </p:txBody>
      </p:sp>
    </p:spTree>
    <p:extLst>
      <p:ext uri="{BB962C8B-B14F-4D97-AF65-F5344CB8AC3E}">
        <p14:creationId xmlns:p14="http://schemas.microsoft.com/office/powerpoint/2010/main" val="6615693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0888B6-4687-4774-A35A-D2AC99C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C2E8D29-E2A5-45F4-AF80-D18F74CC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C2505B-4266-4776-A90B-1F7C014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9FF14F-367A-4269-96A2-0F9FADE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확인하기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C27430-CEFF-482C-B43C-2E78B64B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삼국시대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C8ADA0-44AA-4875-AC79-F8D5BA80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625B79-336D-4398-9DEF-35B29BA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3. 오늘의 한 문장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7A7776-EF2A-4FBD-A4FF-55870B8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AI의 말은 __________ 때문에 확인해야 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6E4805A-BDBB-4554-85EF-3B64131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1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140AE0-3394-4DD6-B0F3-4878CB6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93392"/>
            <a:ext cx="9966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AI는 여러 글의 표현과 패턴을 조합해 답합니다.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5A17BFF-1976-45C6-B716-7E347EDC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E13AEE3-1D2A-4A5B-A25A-1BEBA7F2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51760"/>
            <a:ext cx="9966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자료에 빈칸이 있어도 그럴듯하게 이어 말합니다.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46EBF75-E4E1-4106-8F39-A6CAD125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568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9FF9D6-07C4-478D-B150-D58FAF1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10128"/>
            <a:ext cx="9966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자신 있는 말투가 사실을 보장하지 않습니다.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4833807-1CB1-491E-9B04-36246C3F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9935"/>
            <a:ext cx="109728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952756-B579-4E43-9265-03CBB2C2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68496"/>
            <a:ext cx="9966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출처·근거·원본은 사람이 다시 확인해야 합니다.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55BA28-C544-4F39-9CCA-196D2C2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4차시 · 찾은 문장 세 개를 표로 정리해요.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9AF836-8A1F-44CC-820C-5AA11E8B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206654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2C5D6BF-1420-41E7-B5B0-37E4461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20665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문장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1CC748A-5EF4-4576-94D6-2DAD49F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5138928"/>
            <a:ext cx="206654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323328D-36FB-4986-B39F-903C4646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5138928"/>
            <a:ext cx="20665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표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2A91B9-522D-4039-B7A5-0ECBA59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1" y="5138928"/>
            <a:ext cx="206654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B857D8C-88A9-42D7-A42E-428C39B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1" y="5138928"/>
            <a:ext cx="20665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그래프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BF64FF3-BF9E-460E-AE37-8A9E744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7" y="5138928"/>
            <a:ext cx="206654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9621826-A3AA-4498-94A1-2C9A51F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7" y="5138928"/>
            <a:ext cx="20665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설명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7031C2E-A904-4793-ABAB-B6207FA9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5138928"/>
            <a:ext cx="206654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B7133D4-1646-4D4A-9682-A405D8A8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5138928"/>
            <a:ext cx="20665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전시</a:t>
            </a:r>
          </a:p>
        </p:txBody>
      </p:sp>
    </p:spTree>
    <p:extLst>
      <p:ext uri="{BB962C8B-B14F-4D97-AF65-F5344CB8AC3E}">
        <p14:creationId xmlns:p14="http://schemas.microsoft.com/office/powerpoint/2010/main" val="81838588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2026-09-05T23:54:18.7660000Z</dcterms:created>
  <dcterms:modified xsi:type="dcterms:W3CDTF">2026-09-05T23:54:18.7660000Z</dcterms:modified>
</coreProperties>
</file>