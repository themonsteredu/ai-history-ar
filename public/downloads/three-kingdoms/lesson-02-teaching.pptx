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8580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1F4F40"/>
                </a:solidFill>
                <a:latin typeface="S-Core Dream"/>
              </a:rPr>
              <a:t>AI혁신학교 공개수업 · 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261872"/>
            <a:ext cx="9875520" cy="107899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42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788920"/>
            <a:ext cx="10561320" cy="1261872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88920"/>
            <a:ext cx="91440" cy="1261872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999232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1">
                <a:solidFill>
                  <a:srgbClr val="1F4F40"/>
                </a:solidFill>
                <a:latin typeface="S-Core Dream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64992"/>
            <a:ext cx="978408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200" b="1">
                <a:solidFill>
                  <a:srgbClr val="1F4F40"/>
                </a:solidFill>
                <a:latin typeface="S-Core Dream"/>
              </a:rPr>
              <a:t>“1500년 전 이야기, AI는 어떻게 알고 있을까?”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1772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100" b="0">
                <a:solidFill>
                  <a:srgbClr val="1F2925"/>
                </a:solidFill>
                <a:latin typeface="S-Core Dream"/>
              </a:rPr>
              <a:t>우리 모둠 유산에 대한 AI 문장 6개에서</a:t>
            </a:r>
            <a:br/>
            <a:r>
              <a:rPr sz="2100" b="0">
                <a:solidFill>
                  <a:srgbClr val="1F2925"/>
                </a:solidFill>
                <a:latin typeface="S-Core Dream"/>
              </a:rPr>
              <a:t>의심할 문장을 찾아 출처로 확인합니다.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AI의 역사 설명을 얼마나 믿나요?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손을 들어 봅시다. 정답은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3429000" cy="19659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거의 다 맞을 것 같다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148840"/>
            <a:ext cx="3429000" cy="19659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반쯤은 맞을 것 같다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148840"/>
            <a:ext cx="3429000" cy="196596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2148840"/>
            <a:ext cx="3429000" cy="1965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그대로 믿기는 어렵다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1060704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1F2925"/>
                </a:solidFill>
                <a:latin typeface="S-Core Dream"/>
              </a:rPr>
              <a:t>오늘은 AI가 우리 모둠 유산을 설명한 6문장을 직접 확인합니다.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우리 모둠 유산 6문장에서 의심 문장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57400"/>
            <a:ext cx="10607040" cy="13716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57400"/>
            <a:ext cx="10149840" cy="13716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-Core Dream"/>
              </a:rPr>
              <a:t>우리 모둠 유산 6문장에서 의심 문장을 찾아라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767328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검색하기 전에 먼저 내 판단을 표시한다.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36008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608576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맞는 말과 틀린 말이 섞여 있음을 기억한다.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77256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77256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449824"/>
            <a:ext cx="94183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판단한 뒤에는 확인한 출처를 꼭 적는다.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내 판단 (○×△?)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활동지의 ‘내 판단’ 칸에 그대로 표시합니다.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자료와 다름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의견 나뉨·근거 부족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3999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7" y="320040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더 찾아봐야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800600"/>
            <a:ext cx="10012680" cy="68580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800600"/>
            <a:ext cx="9738360" cy="6858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1F4F40"/>
                </a:solidFill>
                <a:latin typeface="S-Core Dream"/>
              </a:rPr>
              <a:t>△와 ?도 정답이 될 수 있습니다. 모르는 것을 억지로 채우지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활동 화면 여는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로그인 없이 우리 모둠만 고르면 바로 시작합니다.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1060704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11680"/>
            <a:ext cx="109728" cy="123444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11680"/>
            <a:ext cx="1014984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400" b="1">
                <a:solidFill>
                  <a:srgbClr val="1F4F40"/>
                </a:solidFill>
                <a:latin typeface="S-Core Dream"/>
              </a:rPr>
              <a:t>수업 사이트 → 삼국시대 → 2차시 → ‘활동지 수업’ 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10128"/>
            <a:ext cx="1014984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64716C"/>
                </a:solidFill>
                <a:latin typeface="S-Core Dream"/>
              </a:rPr>
              <a:t>주소 뒤에 /three-kingdoms/lesson/2?view=activity 를 붙여도 바로 열립니다.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77639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886200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학생 로그인이 없습니다. 우리 모둠만 고르면 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36008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이 화면은 내 판단만 저장하고 정답·점수는 보여 주지 않습니다.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77255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85816"/>
            <a:ext cx="996696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종이 활동지와 화면의 문장 번호는 똑같습니다.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활동 시간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35분을 네 덩어리로 나눕니다.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8분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975104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혼자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395728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6문장을 ○×△?로 표시합니다.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35808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12분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999232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모둠 조사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419856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공식 자료로 확인하고 ‘확인한 출처’ 칸을 채웁니다.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59936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59936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7분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0233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모둠 발표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443984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문장 번호 → 내 판단 → 확인한 출처 순서로 말합니다.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84064"/>
            <a:ext cx="1371600" cy="80467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084064"/>
            <a:ext cx="1371600" cy="8046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-Core Dream"/>
              </a:rPr>
              <a:t>8분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47488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2925"/>
                </a:solidFill>
                <a:latin typeface="S-Core Dream"/>
              </a:rPr>
              <a:t>정답 확인·정리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5468112"/>
            <a:ext cx="8778240" cy="43891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64716C"/>
                </a:solidFill>
                <a:latin typeface="S-Core Dream"/>
              </a:rPr>
              <a:t>발표한 모둠부터 정답을 보고 ‘오늘의 한 문장’을 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좋은 검색어 만들기 · 어디에서 확인할까?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좋은 검색어 만들기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95728"/>
            <a:ext cx="5212080" cy="1051560"/>
          </a:xfrm>
          <a:prstGeom prst="roundRect">
            <a:avLst/>
          </a:prstGeom>
          <a:solidFill>
            <a:srgbClr val="FC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95728"/>
            <a:ext cx="48463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0">
                <a:solidFill>
                  <a:srgbClr val="9A3E3E"/>
                </a:solidFill>
                <a:latin typeface="S-Core Dream"/>
              </a:rPr>
              <a:t>✕  AI 문장 전체를 그대로 붙여넣기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5212080" cy="10515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48463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1">
                <a:solidFill>
                  <a:srgbClr val="1F4F40"/>
                </a:solidFill>
                <a:latin typeface="S-Core Dream"/>
              </a:rPr>
              <a:t>○  핵심 낱말 2~4개 + 확인할 쟁점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64716C"/>
                </a:solidFill>
                <a:latin typeface="S-Core Dream"/>
              </a:rPr>
              <a:t>문장 전체가 아니라 확인할 핵심만 남깁니다.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3852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어디에서 확인할까? (공식 자료 순위)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395728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395728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1순위  국가유산청 국가유산포털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108960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108960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2순위  국립중앙박물관·국립부여박물관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822191"/>
            <a:ext cx="502920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822191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-Core Dream"/>
              </a:rPr>
              <a:t>3순위  유네스코 세계유산센터·우리역사넷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4535424"/>
            <a:ext cx="5029200" cy="566928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35424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비교용  블로그·영상·AI 답변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230368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0">
                <a:solidFill>
                  <a:srgbClr val="64716C"/>
                </a:solidFill>
                <a:latin typeface="S-Core Dream"/>
              </a:rPr>
              <a:t>확인한 곳의 기관 이름을 활동지 ‘확인한 출처’ 칸에 적습니다.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1모둠 정답 · 무령왕릉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무령왕릉은 1971년 공주 송산리 고분군의 배수로 공사 중 우연히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발견 연도와 경위가 공식 자료에 기록되어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1971 배수로 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무덤 안의 지석 덕분에 무덤의 주인이 무령왕과 왕비라는 사실을 확인할 수 있었습니다.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지석에 무덤 주인과 장례 정보가 남아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지석 무령왕 왕비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 당시 이미 여러 차례 도굴되어 중요한 유물 대부분이 사라진 상태였습니다.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도굴되지 않은 상태로 발견되어 많은 유물이 남아 있었습니다.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도굴 여부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무령왕릉을 처음 발견한 사람은 현장 학습을 온 초등학생이었습니다.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배수로 공사 과정에서 공사 관계자들이 발견했습니다.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발견 과정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무덤 안에서는 진묘수, 금제 관식, 금동 신발, 청동 거울 등 여러 유물이 나왔습니다.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대표 출토 유물은 박물관 자료에서 확인됩니다.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출토 유물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지석만 읽으면 장례의 모든 과정과 유물 하나하나의 정확한 쓰임까지 완전히 알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지석은 중요한 단서지만 모든 과정과 쓰임을 전부 설명하지는 않습니다.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무령왕릉 지석 한계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국립공주박물관·국립중앙박물관 무령왕릉 자료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2모둠 정답 · 백제 금동대향로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백제 금동대향로는 1993년 부여 능산리 절터를 발굴하던 중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발견 연도와 장소가 박물관 자료에 기록되어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1993 능산리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이 향로는 청동으로 만든 뒤 표면에 금을 입힌 금동 유물입니다.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금동은 청동 바탕에 금을 입힌 재료를 뜻합니다.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재료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향로는 백제 왕의 무덤 안에서 발견되었습니다.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왕릉이 아니라 능산리 절터에서 출토되었습니다.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발견 장소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향로의 꼭대기에는 봉황, 받침에는 용이 있고 산·연꽃·동물·악사도 표현되어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향로의 형태와 장식은 소장품 사진과 설명에서 확인됩니다.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봉황 용 악사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향로에 새겨진 모든 동물과 인물이 무엇을 뜻하는지 당시 기록에 남아 있어 완전히 밝혀졌습니다.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형상은 관찰되지만 모든 무늬의 뜻을 하나로 확정하기 어렵습니다.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무늬 의미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이 향로는 신라의 황룡사에서 만들어져 발견된 유물입니다.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부여 지역 절터에서 발견된 백제 유물입니다.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금동대향로 백제 신라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국립부여박물관 백제 금동대향로 자료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3모둠 정답 · 첨성대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첨성대는 경주에 남아 있는 돌로 쌓은 신라시대 건축물입니다.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경주에 있는 석조 건축물임을 확인할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경주 첨성대 석조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국가유산 안내에서는 첨성대를 선덕여왕 때 세운 천문 관측대로 설명합니다.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공식 안내에 건립 시기와 천문 관측 관련 설명이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선덕여왕 천문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 꼭대기에는 별을 확대해서 보는 망원경이 설치되어 있었습니다.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망원경은 첨성대가 세워진 시대보다 훨씬 뒤에 등장했습니다.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망원경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첨성대는 나무 기둥과 기와로만 만든 건물이었습니다.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현재 남은 첨성대는 돌을 층층이 쌓은 구조물입니다.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재료 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첨성대의 돌 개수와 모든 층의 수가 달력을 뜻한다는 사실이 옛 문헌으로 완전히 증명되었습니다.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숫자의 상징에는 여러 해석이 있어 확정된 사실로 보기 어렵습니다.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돌 개수 학설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사람들이 첨성대 안팎에서 별을 관찰한 정확한 방법은 학자들이 모두 같은 결론을 내렸습니다.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구체적인 사용 방법에는 여러 해석이 있습니다.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첨성대 사용 방법 학설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국가유산청 경주 첨성대 안내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4모둠 정답 · 신라 금관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금관은 왕릉급의 큰 무덤에서 권위를 보여 주는 부장품으로 발견되었습니다.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출토 상황과 금관의 성격은 박물관 자료에서 확인됩니다.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부장품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금관에는 얇은 금판으로 만든 세움 장식과 굽은옥 같은 장식이 보입니다.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금관의 실제 형태와 장식에서 확인됩니다.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굽은옥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금관은 오직 왕의 무덤에서만 발견되었으므로 모두 왕이 쓴 왕관입니다.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높은 신분의 인물 무덤에서도 발견되어 모두 왕의 관이라 단정할 수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왕족 무덤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발견된 금관은 모두 무덤 주인의 머리에 똑바로 씌워진 상태였습니다.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얼굴이나 가슴 부근 등 서로 다른 위치에서 발견된 사례가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출토 위치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신라 사람들은 금관을 농사나 일상 노동을 할 때도 매일 쓰고 다녔습니다.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일상 작업용으로 사용했다는 근거는 없습니다.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일상 착용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금관이 생전에 실제로 착용된 것인지 장례를 위해 제작된 것인지에 대해서는 여러 연구 의견이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실제 착용설과 장례용 해석을 함께 살펴봐야 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신라 금관 실제 착용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국립중앙박물관 신라 금관 자료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5모둠 정답 · 고구려 고분벽화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고구려 고분벽화에는 사냥, 행렬, 생활 모습, 무늬와 사신도 같은 그림이 남아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벽화의 주제는 공식 자료에서 확인할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사냥 사신도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벽화무덤은 주로 왕족과 귀족의 무덤과 관련된 것으로 설명됩니다.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무덤의 규모와 내용을 바탕으로 왕족·귀족 무덤으로 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벽화무덤 왕족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발견된 고구려 무덤에는 하나도 빠짐없이 모두 벽화가 그려져 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고구려 무덤 가운데 일부에만 벽화가 남아 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무덤 모두 벽화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고구려 고분벽화는 모두 현재 대한민국 안에서만 발견되었습니다.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북한과 중국 동북 지역에도 고구려 벽화무덤이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북한 중국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벽화에 보이는 장면은 모든 고구려 사람의 하루를 사진처럼 정확히 보여 줍니다.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왕족·귀족 무덤의 장면을 모든 사람의 생활로 일반화하면 안 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생활 일반화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한 명의 유명한 화가가 고구려의 모든 고분벽화를 혼자 그렸다는 기록이 남아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모든 벽화를 한 사람이 그렸다는 기록은 확인되지 않습니다.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고구려 벽화 화가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UNESCO 고구려 고분군·국립박물관 자료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6모둠 정답 · 가야 고분군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97510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AI가 한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97510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왜 그렇게 판단하나요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97510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추천 검색어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304288"/>
            <a:ext cx="11018520" cy="18288"/>
          </a:xfrm>
          <a:prstGeom prst="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39572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9572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6829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 고분군 세계유산은 여러 지역에 있는 일곱 고분군으로 이루어져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236829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세계유산은 일곱 고분군으로 구성되어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6829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일곱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7238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7238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044952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가야는 여러 정치체가 함께 존재한 연맹적 성격을 지녔으며 지역마다 차이도 있었습니다.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9008" y="3044952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고분군은 가야 정치체의 공통점과 지역 차이를 보여 줍니다.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044952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여러 정치체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749039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749039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721607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가야는 처음부터 한 명의 왕이 모든 지역을 다스린 하나의 중앙집권 제국이었습니다.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8" y="3721607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여러 정치체가 공존한 연맹적 성격으로 설명됩니다.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721607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중앙집권 제국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442569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2569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398264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세계유산에 포함된 가야 고분군 일곱 곳은 모두 같은 한 도시 안에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4398264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고분군은 여러 지역에 분포합니다.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398264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위치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10235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10235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가야 고분군은 2023년에 유네스코 세계유산으로 등재되었습니다.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5074920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2023년에 유네스코 세계유산으로 등재되었습니다.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5074920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고분군 2023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77900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77900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51576"/>
            <a:ext cx="39319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40" b="0">
                <a:solidFill>
                  <a:srgbClr val="1F2925"/>
                </a:solidFill>
                <a:latin typeface="S-Core Dream"/>
              </a:rPr>
              <a:t>고분 하나마다 묻힌 사람의 이름과 일생이 모두 문헌에 남아 있어 정확히 알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5751576"/>
            <a:ext cx="35204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19" b="0">
                <a:solidFill>
                  <a:srgbClr val="64716C"/>
                </a:solidFill>
                <a:latin typeface="S-Core Dream"/>
              </a:rPr>
              <a:t>문헌이 부족해 무덤 주인과 일생을 모두 특정하기 어렵습니다.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5751576"/>
            <a:ext cx="23317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980" b="0">
                <a:solidFill>
                  <a:srgbClr val="1F4F40"/>
                </a:solidFill>
                <a:latin typeface="S-Core Dream"/>
              </a:rPr>
              <a:t>가야 고분 주인 문헌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6455664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00" b="0">
                <a:solidFill>
                  <a:srgbClr val="64716C"/>
                </a:solidFill>
                <a:latin typeface="S-Core Dream"/>
              </a:rPr>
              <a:t>우선 확인처: 국가유산청 가야고분군·UNESCO 자료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AI는 왜 틀릴까?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그리고 다음 시간에는 무엇을 할까요?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84831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93392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AI는 여러 글의 표현과 패턴을 조합해 답합니다.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74320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65176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자료에 빈칸이 있어도 그럴듯하게 이어 말합니다.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01568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310128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자신 있는 말투가 사실을 보장하지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59935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968496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출처·근거·원본은 사람이 다시 확인해야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600" b="1">
                <a:solidFill>
                  <a:srgbClr val="1F4F40"/>
                </a:solidFill>
                <a:latin typeface="S-Core Dream"/>
              </a:rPr>
              <a:t>다음 시간 · 오늘 우리가 한 확인에 이름 붙이기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출처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16936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16936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6631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6631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교차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96327" y="5138928"/>
            <a:ext cx="2066544" cy="9144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6327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원본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36024" y="5138928"/>
            <a:ext cx="2066544" cy="9144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6024" y="5138928"/>
            <a:ext cx="2066544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-Core Dream"/>
              </a:rPr>
              <a:t>보류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