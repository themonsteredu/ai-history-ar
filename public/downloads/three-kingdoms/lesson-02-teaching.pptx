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85800"/>
            <a:ext cx="5486400" cy="3291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1">
                <a:solidFill>
                  <a:srgbClr val="1F4F40"/>
                </a:solidFill>
                <a:latin typeface="S-Core Dream"/>
              </a:rPr>
              <a:t>AI혁신학교 공개수업 · 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261872"/>
            <a:ext cx="9875520" cy="107899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42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2788920"/>
            <a:ext cx="10561320" cy="1261872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2788920"/>
            <a:ext cx="91440" cy="1261872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999232"/>
            <a:ext cx="978408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00" b="1">
                <a:solidFill>
                  <a:srgbClr val="1F4F40"/>
                </a:solidFill>
                <a:latin typeface="S-Core Dream"/>
              </a:rPr>
              <a:t>핵심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64992"/>
            <a:ext cx="978408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200" b="1">
                <a:solidFill>
                  <a:srgbClr val="1F4F40"/>
                </a:solidFill>
                <a:latin typeface="S-Core Dream"/>
              </a:rPr>
              <a:t>“1500년 전 이야기, AI는 어떻게 알고 있을까?”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61772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100" b="0">
                <a:solidFill>
                  <a:srgbClr val="1F2925"/>
                </a:solidFill>
                <a:latin typeface="S-Core Dream"/>
              </a:rPr>
              <a:t>사실과 오류, 근거 없는 단정이 섞인 AI 답변을</a:t>
            </a:r>
            <a:br/>
            <a:r>
              <a:rPr sz="2100" b="0">
                <a:solidFill>
                  <a:srgbClr val="1F2925"/>
                </a:solidFill>
                <a:latin typeface="S-Core Dream"/>
              </a:rPr>
              <a:t>모둠별 A4 한 장에서 찾아냅니다.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오늘의 학습 목표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993392"/>
            <a:ext cx="10680192" cy="1874519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993392"/>
            <a:ext cx="109728" cy="1874519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31720"/>
            <a:ext cx="9784080" cy="11430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600" b="1">
                <a:solidFill>
                  <a:srgbClr val="1F4F40"/>
                </a:solidFill>
                <a:latin typeface="S-Core Dream"/>
              </a:rPr>
              <a:t>AI 설명에서 사실과 다른 부분이나</a:t>
            </a:r>
            <a:br/>
            <a:r>
              <a:rPr sz="2600" b="1">
                <a:solidFill>
                  <a:srgbClr val="1F4F40"/>
                </a:solidFill>
                <a:latin typeface="S-Core Dream"/>
              </a:rPr>
              <a:t>더 확인해야 할 부분을 찾고 이유를 설명할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오늘의 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그럴듯한 AI 답변 속에서 이상한 문장 1~2개를 찾아라.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9659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93852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검색하기 전에 먼저 판단한다.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803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803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85292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맞는 말과 틀린 말이 섞여 있음을 기억한다.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7947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947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76732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핵심 낱말 2~4개로 검색한다.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7091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091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8172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최종 판단에는 출처와 근거를 붙인다.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판정 기호 네 가지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93392"/>
            <a:ext cx="2423160" cy="233172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46120"/>
            <a:ext cx="2194560" cy="65836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자료로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993392"/>
            <a:ext cx="2423160" cy="233172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46120"/>
            <a:ext cx="2194560" cy="65836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자료와 다름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79" y="1993392"/>
            <a:ext cx="2423160" cy="233172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79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3246120"/>
            <a:ext cx="2194560" cy="65836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근거 부족·의견이 나뉨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3999" y="1993392"/>
            <a:ext cx="2423160" cy="233172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3999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7" y="3246120"/>
            <a:ext cx="2194560" cy="65836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더 찾아봐야 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4800600"/>
            <a:ext cx="10012680" cy="685800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00600"/>
            <a:ext cx="9738360" cy="6858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1F4F40"/>
                </a:solidFill>
                <a:latin typeface="S-Core Dream"/>
              </a:rPr>
              <a:t>△와 ?도 정답이 될 수 있습니다. 모르는 것을 억지로 채우지 않습니다.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활동지는 A4 한 장입니다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읽기 → 의심 → 검색 → 수정 → 결론을 같은 면에서 끝냅니다.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19659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659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938528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AI 문장 6개에 ○·×·△·? 표시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28803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8803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852928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가장 의심한 문장과 까닭 선택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7947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7947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767328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1~2개 문장을 공식 자료로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47091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681728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바르게 고쳐 쓰고 모둠 결론 작성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여섯 모둠의 탐구 대상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786384" cy="786384"/>
          </a:xfrm>
          <a:prstGeom prst="roundRect">
            <a:avLst/>
          </a:prstGeom>
          <a:solidFill>
            <a:srgbClr val="7A5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786384" cy="7863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856231"/>
            <a:ext cx="434340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1">
                <a:solidFill>
                  <a:srgbClr val="1F2925"/>
                </a:solidFill>
                <a:latin typeface="S-Core Dream"/>
              </a:rPr>
              <a:t>무령왕릉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249424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발굴은 왜 아쉬움으로 남았을까?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874519"/>
            <a:ext cx="786384" cy="786384"/>
          </a:xfrm>
          <a:prstGeom prst="roundRect">
            <a:avLst/>
          </a:prstGeom>
          <a:solidFill>
            <a:srgbClr val="3D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786384" cy="7863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56231"/>
            <a:ext cx="434340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1">
                <a:solidFill>
                  <a:srgbClr val="1F2925"/>
                </a:solidFill>
                <a:latin typeface="S-Core Dream"/>
              </a:rPr>
              <a:t>백제 금동대향로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249424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향로에 새겨진 것은 무엇을 뜻할까?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786384" cy="78638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27832"/>
            <a:ext cx="786384" cy="7863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209544"/>
            <a:ext cx="434340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1">
                <a:solidFill>
                  <a:srgbClr val="1F2925"/>
                </a:solidFill>
                <a:latin typeface="S-Core Dream"/>
              </a:rPr>
              <a:t>첨성대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602736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첨성대는 정말 천문대였을까?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227832"/>
            <a:ext cx="786384" cy="786384"/>
          </a:xfrm>
          <a:prstGeom prst="roundRect">
            <a:avLst/>
          </a:prstGeom>
          <a:solidFill>
            <a:srgbClr val="B1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227832"/>
            <a:ext cx="786384" cy="7863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209544"/>
            <a:ext cx="434340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1">
                <a:solidFill>
                  <a:srgbClr val="1F2925"/>
                </a:solidFill>
                <a:latin typeface="S-Core Dream"/>
              </a:rPr>
              <a:t>신라 금관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602736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신라 금관은 실제로 쓰고 다녔을까?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581144"/>
            <a:ext cx="786384" cy="786384"/>
          </a:xfrm>
          <a:prstGeom prst="roundRect">
            <a:avLst/>
          </a:prstGeom>
          <a:solidFill>
            <a:srgbClr val="8A4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581144"/>
            <a:ext cx="786384" cy="7863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562856"/>
            <a:ext cx="434340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1">
                <a:solidFill>
                  <a:srgbClr val="1F2925"/>
                </a:solidFill>
                <a:latin typeface="S-Core Dream"/>
              </a:rPr>
              <a:t>고구려 고분벽화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956048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고구려 벽화는 무엇을 그린 것일까?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581144"/>
            <a:ext cx="786384" cy="786384"/>
          </a:xfrm>
          <a:prstGeom prst="roundRect">
            <a:avLst/>
          </a:prstGeom>
          <a:solidFill>
            <a:srgbClr val="C87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581144"/>
            <a:ext cx="786384" cy="7863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4562856"/>
            <a:ext cx="434340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1">
                <a:solidFill>
                  <a:srgbClr val="1F2925"/>
                </a:solidFill>
                <a:latin typeface="S-Core Dream"/>
              </a:rPr>
              <a:t>가야 고분군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4956048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가야는 왜 오랫동안 잊혔을까?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1모둠 · 무령왕릉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무령왕릉은 어떻게 발견되었고, 무엇을 알게 되었나요?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20240"/>
            <a:ext cx="109728" cy="4160520"/>
          </a:xfrm>
          <a:prstGeom prst="rect">
            <a:avLst/>
          </a:prstGeom>
          <a:solidFill>
            <a:srgbClr val="7A5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1874519"/>
            <a:ext cx="420624" cy="420624"/>
          </a:xfrm>
          <a:prstGeom prst="roundRect">
            <a:avLst/>
          </a:prstGeom>
          <a:solidFill>
            <a:srgbClr val="7A5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1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828799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무령왕릉은 1971년 공주 송산리 고분군의 배수로 공사 중 우연히 발견되었습니다.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2532887"/>
            <a:ext cx="420624" cy="420624"/>
          </a:xfrm>
          <a:prstGeom prst="roundRect">
            <a:avLst/>
          </a:prstGeom>
          <a:solidFill>
            <a:srgbClr val="7A5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532887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487168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무덤 안의 지석 덕분에 무덤의 주인이 무령왕과 왕비라는 사실을 확인할 수 있었습니다.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191256"/>
            <a:ext cx="420624" cy="420624"/>
          </a:xfrm>
          <a:prstGeom prst="roundRect">
            <a:avLst/>
          </a:prstGeom>
          <a:solidFill>
            <a:srgbClr val="7A5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1912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145536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발견 당시 이미 여러 차례 도굴되어 중요한 유물 대부분이 사라진 상태였습니다.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3849624"/>
            <a:ext cx="420624" cy="420624"/>
          </a:xfrm>
          <a:prstGeom prst="roundRect">
            <a:avLst/>
          </a:prstGeom>
          <a:solidFill>
            <a:srgbClr val="7A5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84962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803904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무령왕릉을 처음 발견한 사람은 현장 학습을 온 초등학생이었습니다.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507992"/>
            <a:ext cx="420624" cy="420624"/>
          </a:xfrm>
          <a:prstGeom prst="roundRect">
            <a:avLst/>
          </a:prstGeom>
          <a:solidFill>
            <a:srgbClr val="7A5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5079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462272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무덤 안에서는 진묘수, 금제 관식, 금동 신발, 청동 거울 등 여러 유물이 나왔습니다.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166359"/>
            <a:ext cx="420624" cy="420624"/>
          </a:xfrm>
          <a:prstGeom prst="roundRect">
            <a:avLst/>
          </a:prstGeom>
          <a:solidFill>
            <a:srgbClr val="7A5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516635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120640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지석만 읽으면 장례의 모든 과정과 유물 하나하나의 정확한 쓰임까지 완전히 알 수 있습니다.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2모둠 · 백제 금동대향로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백제 금동대향로는 어디에서 발견되었고, 어떤 모습인가요?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20240"/>
            <a:ext cx="109728" cy="4160520"/>
          </a:xfrm>
          <a:prstGeom prst="rect">
            <a:avLst/>
          </a:prstGeom>
          <a:solidFill>
            <a:srgbClr val="3D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1874519"/>
            <a:ext cx="420624" cy="420624"/>
          </a:xfrm>
          <a:prstGeom prst="roundRect">
            <a:avLst/>
          </a:prstGeom>
          <a:solidFill>
            <a:srgbClr val="3D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1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828799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백제 금동대향로는 1993년 부여 능산리 절터를 발굴하던 중 발견되었습니다.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2532887"/>
            <a:ext cx="420624" cy="420624"/>
          </a:xfrm>
          <a:prstGeom prst="roundRect">
            <a:avLst/>
          </a:prstGeom>
          <a:solidFill>
            <a:srgbClr val="3D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532887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487168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이 향로는 청동으로 만든 뒤 표면에 금을 입힌 금동 유물입니다.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191256"/>
            <a:ext cx="420624" cy="420624"/>
          </a:xfrm>
          <a:prstGeom prst="roundRect">
            <a:avLst/>
          </a:prstGeom>
          <a:solidFill>
            <a:srgbClr val="3D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1912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145536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향로는 백제 왕의 무덤 안에서 발견되었습니다.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3849624"/>
            <a:ext cx="420624" cy="420624"/>
          </a:xfrm>
          <a:prstGeom prst="roundRect">
            <a:avLst/>
          </a:prstGeom>
          <a:solidFill>
            <a:srgbClr val="3D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84962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803904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향로의 꼭대기에는 봉황, 받침에는 용이 있고 산·연꽃·동물·악사도 표현되어 있습니다.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507992"/>
            <a:ext cx="420624" cy="420624"/>
          </a:xfrm>
          <a:prstGeom prst="roundRect">
            <a:avLst/>
          </a:prstGeom>
          <a:solidFill>
            <a:srgbClr val="3D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5079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462272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향로에 새겨진 모든 동물과 인물이 무엇을 뜻하는지 당시 기록에 남아 있어 완전히 밝혀졌습니다.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166359"/>
            <a:ext cx="420624" cy="420624"/>
          </a:xfrm>
          <a:prstGeom prst="roundRect">
            <a:avLst/>
          </a:prstGeom>
          <a:solidFill>
            <a:srgbClr val="3D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516635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120640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이 향로는 신라의 황룡사에서 만들어져 발견된 유물입니다.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3모둠 · 첨성대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첨성대는 무엇을 하던 곳이며, 사용 방법은 모두 밝혀졌나요?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20240"/>
            <a:ext cx="109728" cy="4160520"/>
          </a:xfrm>
          <a:prstGeom prst="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1874519"/>
            <a:ext cx="420624" cy="42062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1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828799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첨성대는 경주에 남아 있는 돌로 쌓은 신라시대 건축물입니다.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2532887"/>
            <a:ext cx="420624" cy="42062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532887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487168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국가유산 안내에서는 첨성대를 선덕여왕 때 세운 천문 관측대로 설명합니다.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191256"/>
            <a:ext cx="420624" cy="42062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1912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145536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첨성대 꼭대기에는 별을 확대해서 보는 망원경이 설치되어 있었습니다.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3849624"/>
            <a:ext cx="420624" cy="42062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84962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803904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첨성대는 나무 기둥과 기와로만 만든 건물이었습니다.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507992"/>
            <a:ext cx="420624" cy="42062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5079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462272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첨성대의 돌 개수와 모든 층의 수가 달력을 뜻한다는 사실이 옛 문헌으로 완전히 증명되었습니다.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166359"/>
            <a:ext cx="420624" cy="42062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516635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120640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신라 사람들이 첨성대 안팎에서 별을 관찰한 정확한 방법은 학자들이 모두 같은 결론을 내렸습니다.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4모둠 · 신라 금관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신라 금관은 누가, 언제, 어떻게 사용했나요?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20240"/>
            <a:ext cx="109728" cy="4160520"/>
          </a:xfrm>
          <a:prstGeom prst="rect">
            <a:avLst/>
          </a:prstGeom>
          <a:solidFill>
            <a:srgbClr val="B1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1874519"/>
            <a:ext cx="420624" cy="420624"/>
          </a:xfrm>
          <a:prstGeom prst="roundRect">
            <a:avLst/>
          </a:prstGeom>
          <a:solidFill>
            <a:srgbClr val="B1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1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828799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신라 금관은 왕릉급의 큰 무덤에서 권위를 보여 주는 부장품으로 발견되었습니다.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2532887"/>
            <a:ext cx="420624" cy="420624"/>
          </a:xfrm>
          <a:prstGeom prst="roundRect">
            <a:avLst/>
          </a:prstGeom>
          <a:solidFill>
            <a:srgbClr val="B1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532887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487168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금관에는 얇은 금판으로 만든 세움 장식과 굽은옥 같은 장식이 보입니다.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191256"/>
            <a:ext cx="420624" cy="420624"/>
          </a:xfrm>
          <a:prstGeom prst="roundRect">
            <a:avLst/>
          </a:prstGeom>
          <a:solidFill>
            <a:srgbClr val="B1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1912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145536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신라 금관은 오직 왕의 무덤에서만 발견되었으므로 모두 왕이 쓴 왕관입니다.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3849624"/>
            <a:ext cx="420624" cy="420624"/>
          </a:xfrm>
          <a:prstGeom prst="roundRect">
            <a:avLst/>
          </a:prstGeom>
          <a:solidFill>
            <a:srgbClr val="B1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84962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803904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발견된 금관은 모두 무덤 주인의 머리에 똑바로 씌워진 상태였습니다.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507992"/>
            <a:ext cx="420624" cy="420624"/>
          </a:xfrm>
          <a:prstGeom prst="roundRect">
            <a:avLst/>
          </a:prstGeom>
          <a:solidFill>
            <a:srgbClr val="B1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5079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462272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신라 사람들은 금관을 농사나 일상 노동을 할 때도 매일 쓰고 다녔습니다.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166359"/>
            <a:ext cx="420624" cy="420624"/>
          </a:xfrm>
          <a:prstGeom prst="roundRect">
            <a:avLst/>
          </a:prstGeom>
          <a:solidFill>
            <a:srgbClr val="B1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516635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120640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금관이 생전에 실제로 착용된 것인지 장례를 위해 제작된 것인지에 대해서는 여러 연구 의견이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5모둠 · 고구려 고분벽화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고구려 고분벽화에는 어떤 장면이 있으며, 무엇을 알 수 있나요?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20240"/>
            <a:ext cx="109728" cy="4160520"/>
          </a:xfrm>
          <a:prstGeom prst="rect">
            <a:avLst/>
          </a:prstGeom>
          <a:solidFill>
            <a:srgbClr val="8A4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1874519"/>
            <a:ext cx="420624" cy="420624"/>
          </a:xfrm>
          <a:prstGeom prst="roundRect">
            <a:avLst/>
          </a:prstGeom>
          <a:solidFill>
            <a:srgbClr val="8A4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1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828799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고구려 고분벽화에는 사냥, 행렬, 생활 모습, 무늬와 사신도 같은 그림이 남아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2532887"/>
            <a:ext cx="420624" cy="420624"/>
          </a:xfrm>
          <a:prstGeom prst="roundRect">
            <a:avLst/>
          </a:prstGeom>
          <a:solidFill>
            <a:srgbClr val="8A4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532887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487168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벽화무덤은 주로 왕족과 귀족의 무덤과 관련된 것으로 설명됩니다.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191256"/>
            <a:ext cx="420624" cy="420624"/>
          </a:xfrm>
          <a:prstGeom prst="roundRect">
            <a:avLst/>
          </a:prstGeom>
          <a:solidFill>
            <a:srgbClr val="8A4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1912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145536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발견된 고구려 무덤에는 하나도 빠짐없이 모두 벽화가 그려져 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3849624"/>
            <a:ext cx="420624" cy="420624"/>
          </a:xfrm>
          <a:prstGeom prst="roundRect">
            <a:avLst/>
          </a:prstGeom>
          <a:solidFill>
            <a:srgbClr val="8A4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84962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803904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고구려 고분벽화는 모두 현재 대한민국 안에서만 발견되었습니다.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507992"/>
            <a:ext cx="420624" cy="420624"/>
          </a:xfrm>
          <a:prstGeom prst="roundRect">
            <a:avLst/>
          </a:prstGeom>
          <a:solidFill>
            <a:srgbClr val="8A4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5079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462272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벽화에 보이는 장면은 모든 고구려 사람의 하루를 사진처럼 정확히 보여 줍니다.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166359"/>
            <a:ext cx="420624" cy="420624"/>
          </a:xfrm>
          <a:prstGeom prst="roundRect">
            <a:avLst/>
          </a:prstGeom>
          <a:solidFill>
            <a:srgbClr val="8A4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516635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120640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한 명의 유명한 화가가 고구려의 모든 고분벽화를 혼자 그렸다는 기록이 남아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6모둠 · 가야 고분군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가야 고분군은 어떤 나라의 모습을 보여 주나요?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20240"/>
            <a:ext cx="109728" cy="4160520"/>
          </a:xfrm>
          <a:prstGeom prst="rect">
            <a:avLst/>
          </a:prstGeom>
          <a:solidFill>
            <a:srgbClr val="C87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1874519"/>
            <a:ext cx="420624" cy="420624"/>
          </a:xfrm>
          <a:prstGeom prst="roundRect">
            <a:avLst/>
          </a:prstGeom>
          <a:solidFill>
            <a:srgbClr val="C87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1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828799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가야 고분군 세계유산은 여러 지역에 있는 일곱 고분군으로 이루어져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2532887"/>
            <a:ext cx="420624" cy="420624"/>
          </a:xfrm>
          <a:prstGeom prst="roundRect">
            <a:avLst/>
          </a:prstGeom>
          <a:solidFill>
            <a:srgbClr val="C87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532887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487168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가야는 여러 정치체가 함께 존재한 연맹적 성격을 지녔으며 지역마다 차이도 있었습니다.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191256"/>
            <a:ext cx="420624" cy="420624"/>
          </a:xfrm>
          <a:prstGeom prst="roundRect">
            <a:avLst/>
          </a:prstGeom>
          <a:solidFill>
            <a:srgbClr val="C87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1912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145536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가야는 처음부터 한 명의 왕이 모든 지역을 다스린 하나의 중앙집권 제국이었습니다.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3849624"/>
            <a:ext cx="420624" cy="420624"/>
          </a:xfrm>
          <a:prstGeom prst="roundRect">
            <a:avLst/>
          </a:prstGeom>
          <a:solidFill>
            <a:srgbClr val="C87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84962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803904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세계유산에 포함된 가야 고분군 일곱 곳은 모두 같은 한 도시 안에 있습니다.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507992"/>
            <a:ext cx="420624" cy="420624"/>
          </a:xfrm>
          <a:prstGeom prst="roundRect">
            <a:avLst/>
          </a:prstGeom>
          <a:solidFill>
            <a:srgbClr val="C87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5079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462272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가야 고분군은 2023년에 유네스코 세계유산으로 등재되었습니다.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166359"/>
            <a:ext cx="420624" cy="420624"/>
          </a:xfrm>
          <a:prstGeom prst="roundRect">
            <a:avLst/>
          </a:prstGeom>
          <a:solidFill>
            <a:srgbClr val="C87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516635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120640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고분 하나마다 묻힌 사람의 이름과 일생이 모두 문헌에 남아 있어 정확히 알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좋은 검색어 만들기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38528"/>
            <a:ext cx="5166360" cy="2194560"/>
          </a:xfrm>
          <a:prstGeom prst="roundRect">
            <a:avLst/>
          </a:prstGeom>
          <a:solidFill>
            <a:srgbClr val="FC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466344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9A3E3E"/>
                </a:solidFill>
                <a:latin typeface="S-Core Dream"/>
              </a:rPr>
              <a:t>좋지 않은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4617720" cy="10515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0">
                <a:solidFill>
                  <a:srgbClr val="1F2925"/>
                </a:solidFill>
                <a:latin typeface="S-Core Dream"/>
              </a:rPr>
              <a:t>AI 문장 전체를</a:t>
            </a:r>
            <a:br/>
            <a:r>
              <a:rPr sz="2000" b="0">
                <a:solidFill>
                  <a:srgbClr val="1F2925"/>
                </a:solidFill>
                <a:latin typeface="S-Core Dream"/>
              </a:rPr>
              <a:t>그대로 붙여넣기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938528"/>
            <a:ext cx="5166360" cy="219456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148840"/>
            <a:ext cx="466344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1F4F40"/>
                </a:solidFill>
                <a:latin typeface="S-Core Dream"/>
              </a:rPr>
              <a:t>좋은 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697480"/>
            <a:ext cx="4617720" cy="10515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0">
                <a:solidFill>
                  <a:srgbClr val="1F2925"/>
                </a:solidFill>
                <a:latin typeface="S-Core Dream"/>
              </a:rPr>
              <a:t>핵심 낱말 2~4개</a:t>
            </a:r>
            <a:br/>
            <a:r>
              <a:rPr sz="2000" b="0">
                <a:solidFill>
                  <a:srgbClr val="1F2925"/>
                </a:solidFill>
                <a:latin typeface="S-Core Dream"/>
              </a:rPr>
              <a:t>+ 확인할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1F4F40"/>
                </a:solidFill>
                <a:latin typeface="S-Core Dream"/>
              </a:rPr>
              <a:t>문장 전체가 아니라 확인할 핵심만 남깁니다.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어디에서 먼저 확인할까?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1993392"/>
            <a:ext cx="10012680" cy="6126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993392"/>
            <a:ext cx="9555480" cy="6126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-Core Dream"/>
              </a:rPr>
              <a:t>1순위  국가유산청 국가유산포털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834640"/>
            <a:ext cx="10012680" cy="6126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34640"/>
            <a:ext cx="9555480" cy="6126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-Core Dream"/>
              </a:rPr>
              <a:t>2순위  국립박물관·국립고궁박물관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675888"/>
            <a:ext cx="10012680" cy="6126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675888"/>
            <a:ext cx="9555480" cy="6126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-Core Dream"/>
              </a:rPr>
              <a:t>3순위  국사편찬위원회·조선왕조실록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517136"/>
            <a:ext cx="10012680" cy="612648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4517136"/>
            <a:ext cx="9555480" cy="6126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0">
                <a:solidFill>
                  <a:srgbClr val="1F2925"/>
                </a:solidFill>
                <a:latin typeface="S-Core Dream"/>
              </a:rPr>
              <a:t>비교용  블로그·영상·AI 답변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모둠 발표는 30초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74519"/>
            <a:ext cx="10332720" cy="288036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2148840"/>
            <a:ext cx="950976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0">
                <a:solidFill>
                  <a:srgbClr val="1F2925"/>
                </a:solidFill>
                <a:latin typeface="S-Core Dream"/>
              </a:rPr>
              <a:t>우리 모둠은 ___번 문장을 의심했습니다.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752344"/>
            <a:ext cx="950976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0">
                <a:solidFill>
                  <a:srgbClr val="1F2925"/>
                </a:solidFill>
                <a:latin typeface="S-Core Dream"/>
              </a:rPr>
              <a:t>처음에는 ___ 때문에 이상하다고 생각했습니다.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355848"/>
            <a:ext cx="950976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0">
                <a:solidFill>
                  <a:srgbClr val="1F2925"/>
                </a:solidFill>
                <a:latin typeface="S-Core Dream"/>
              </a:rPr>
              <a:t>___ 자료에서 ___라는 근거를 확인했습니다.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959352"/>
            <a:ext cx="950976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1">
                <a:solidFill>
                  <a:srgbClr val="1F4F40"/>
                </a:solidFill>
                <a:latin typeface="S-Core Dream"/>
              </a:rPr>
              <a:t>그래서 최종 판단은 ○ / × / △ / ? 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AI는 왜 틀릴까?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874519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AI는 여러 글의 표현과 패턴을 조합해 답합니다.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880360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자료에 빈칸이 있어도 그럴듯하게 이어 말할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94760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703320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자신 있는 말투가 사실을 보장하지 않습니다.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709160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617720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출처·근거·원본을 사람이 다시 확인해야 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다음 시간 예고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그럼 진짜는 어떻게 확인할까?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31720"/>
            <a:ext cx="2066544" cy="123444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2066544" cy="12344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1F4F40"/>
                </a:solidFill>
                <a:latin typeface="S-Core Dream"/>
              </a:rPr>
              <a:t>출처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5" y="2331720"/>
            <a:ext cx="2066544" cy="123444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1215" y="2331720"/>
            <a:ext cx="2066544" cy="12344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1F4F40"/>
                </a:solidFill>
                <a:latin typeface="S-Core Dream"/>
              </a:rPr>
              <a:t>시기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10912" y="2331720"/>
            <a:ext cx="2066544" cy="123444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10912" y="2331720"/>
            <a:ext cx="2066544" cy="12344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1F4F40"/>
                </a:solidFill>
                <a:latin typeface="S-Core Dream"/>
              </a:rPr>
              <a:t>교차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50607" y="2331720"/>
            <a:ext cx="2066544" cy="123444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0607" y="2331720"/>
            <a:ext cx="2066544" cy="12344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1F4F40"/>
                </a:solidFill>
                <a:latin typeface="S-Core Dream"/>
              </a:rPr>
              <a:t>원본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90304" y="2331720"/>
            <a:ext cx="2066544" cy="123444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0304" y="2331720"/>
            <a:ext cx="2066544" cy="12344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-Core Dream"/>
              </a:rPr>
              <a:t>보류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343400"/>
            <a:ext cx="10332720" cy="8686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100" b="1">
                <a:solidFill>
                  <a:srgbClr val="1F4F40"/>
                </a:solidFill>
                <a:latin typeface="S-Core Dream"/>
              </a:rPr>
              <a:t>오늘의 오류 발견 기록지는 10차시 교실 박물관에 전시됩니다.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부록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학생 발표 뒤에만 공개합니다.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057400"/>
            <a:ext cx="10332720" cy="2377440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2395728"/>
            <a:ext cx="9509760" cy="1645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400" b="1">
                <a:solidFill>
                  <a:srgbClr val="1F4F40"/>
                </a:solidFill>
                <a:latin typeface="S-Core Dream"/>
              </a:rPr>
              <a:t>정답을 먼저 보여 주지 않습니다.</a:t>
            </a:r>
            <a:br/>
            <a:r>
              <a:rPr sz="2400" b="1">
                <a:solidFill>
                  <a:srgbClr val="1F4F40"/>
                </a:solidFill>
                <a:latin typeface="S-Core Dream"/>
              </a:rPr>
              <a:t>학생이 왜 의심했는지 말한 뒤</a:t>
            </a:r>
            <a:br/>
            <a:r>
              <a:rPr sz="2400" b="1">
                <a:solidFill>
                  <a:srgbClr val="1F4F40"/>
                </a:solidFill>
                <a:latin typeface="S-Core Dream"/>
              </a:rPr>
              <a:t>판정·근거·검색어를 확인합니다.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· 1모둠 무령왕릉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발굴은 왜 아쉬움으로 남았을까?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4708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1965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무령왕릉은 1971년 공주 송산리 고분군의 배수로 공사 중 우연히 발견되었습니다.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1965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발견 연도와 경위가 공식 자료에 기록되어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52374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52374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496312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무덤 안의 지석 덕분에 무덤의 주인이 무령왕과 왕비라는 사실을 확인할 수 있었습니다.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6312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지석에 무덤 주인과 장례 정보가 남아 있습니다.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200400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200400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172968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발견 당시 이미 여러 차례 도굴되어 중요한 유물 대부분이 사라진 상태였습니다.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72968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도굴되지 않은 상태로 발견되어 많은 유물이 남아 있었습니다.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7705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7705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49624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무령왕릉을 처음 발견한 사람은 현장 학습을 온 초등학생이었습니다.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849624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배수로 공사 과정에서 공사 관계자들이 발견했습니다.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53712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55371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526280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무덤 안에서는 진묘수, 금제 관식, 금동 신발, 청동 거울 등 여러 유물이 나왔습니다.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대표 출토 유물은 박물관 자료에서 확인됩니다.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230368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23036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20293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지석만 읽으면 장례의 모든 과정과 유물 하나하나의 정확한 쓰임까지 완전히 알 수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0293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지석은 중요한 단서지만 모든 과정과 쓰임을 전부 설명하지는 않습니다.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· 2모둠 백제 금동대향로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향로에 새겨진 것은 무엇을 뜻할까?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4708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1965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백제 금동대향로는 1993년 부여 능산리 절터를 발굴하던 중 발견되었습니다.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1965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발견 연도와 장소가 박물관 자료에 기록되어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52374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52374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496312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이 향로는 청동으로 만든 뒤 표면에 금을 입힌 금동 유물입니다.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6312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금동은 청동 바탕에 금을 입힌 재료를 뜻합니다.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200400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200400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172968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향로는 백제 왕의 무덤 안에서 발견되었습니다.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72968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왕릉이 아니라 능산리 절터에서 출토되었습니다.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77056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7705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49624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향로의 꼭대기에는 봉황, 받침에는 용이 있고 산·연꽃·동물·악사도 표현되어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849624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향로의 형태와 장식은 소장품 사진과 설명에서 확인됩니다.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53712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55371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526280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향로에 새겨진 모든 동물과 인물이 무엇을 뜻하는지 당시 기록에 남아 있어 완전히 밝혀졌습니다.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형상은 관찰되지만 모든 무늬의 뜻을 하나로 확정하기 어렵습니다.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230368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23036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20293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이 향로는 신라의 황룡사에서 만들어져 발견된 유물입니다.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0293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부여 지역 절터에서 발견된 백제 유물입니다.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· 3모둠 첨성대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첨성대는 정말 천문대였을까?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4708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1965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첨성대는 경주에 남아 있는 돌로 쌓은 신라시대 건축물입니다.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1965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경주에 있는 석조 건축물임을 확인할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52374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52374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496312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국가유산 안내에서는 첨성대를 선덕여왕 때 세운 천문 관측대로 설명합니다.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6312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공식 안내에 건립 시기와 천문 관측 관련 설명이 있습니다.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200400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200400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172968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첨성대 꼭대기에는 별을 확대해서 보는 망원경이 설치되어 있었습니다.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72968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망원경은 첨성대가 세워진 시대보다 훨씬 뒤에 등장했습니다.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7705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7705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49624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첨성대는 나무 기둥과 기와로만 만든 건물이었습니다.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849624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현재 남은 첨성대는 돌을 층층이 쌓은 구조물입니다.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53712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55371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526280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첨성대의 돌 개수와 모든 층의 수가 달력을 뜻한다는 사실이 옛 문헌으로 완전히 증명되었습니다.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숫자의 상징에는 여러 해석이 있어 확정된 사실로 보기 어렵습니다.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230368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23036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20293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신라 사람들이 첨성대 안팎에서 별을 관찰한 정확한 방법은 학자들이 모두 같은 결론을 내렸습니다.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0293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구체적인 사용 방법에는 여러 해석이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· 4모둠 신라 금관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신라 금관은 실제로 쓰고 다녔을까?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4708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1965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신라 금관은 왕릉급의 큰 무덤에서 권위를 보여 주는 부장품으로 발견되었습니다.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1965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출토 상황과 금관의 성격은 박물관 자료에서 확인됩니다.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52374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52374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496312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금관에는 얇은 금판으로 만든 세움 장식과 굽은옥 같은 장식이 보입니다.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6312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금관의 실제 형태와 장식에서 확인됩니다.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200400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200400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172968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신라 금관은 오직 왕의 무덤에서만 발견되었으므로 모두 왕이 쓴 왕관입니다.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72968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높은 신분의 인물 무덤에서도 발견되어 모두 왕의 관이라 단정할 수 없습니다.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7705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7705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49624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발견된 금관은 모두 무덤 주인의 머리에 똑바로 씌워진 상태였습니다.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849624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얼굴이나 가슴 부근 등 서로 다른 위치에서 발견된 사례가 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53712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55371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526280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신라 사람들은 금관을 농사나 일상 노동을 할 때도 매일 쓰고 다녔습니다.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일상 작업용으로 사용했다는 근거는 없습니다.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230368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23036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20293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금관이 생전에 실제로 착용된 것인지 장례를 위해 제작된 것인지에 대해서는 여러 연구 의견이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0293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실제 착용설과 장례용 해석을 함께 살펴봐야 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· 5모둠 고구려 고분벽화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고구려 벽화는 무엇을 그린 것일까?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4708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1965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고구려 고분벽화에는 사냥, 행렬, 생활 모습, 무늬와 사신도 같은 그림이 남아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1965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벽화의 주제는 공식 자료에서 확인할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52374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52374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496312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벽화무덤은 주로 왕족과 귀족의 무덤과 관련된 것으로 설명됩니다.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6312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무덤의 규모와 내용을 바탕으로 왕족·귀족 무덤으로 봅니다.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200400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200400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172968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발견된 고구려 무덤에는 하나도 빠짐없이 모두 벽화가 그려져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72968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고구려 무덤 가운데 일부에만 벽화가 남아 있습니다.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7705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7705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49624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고구려 고분벽화는 모두 현재 대한민국 안에서만 발견되었습니다.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849624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북한과 중국 동북 지역에도 고구려 벽화무덤이 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53712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55371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526280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벽화에 보이는 장면은 모든 고구려 사람의 하루를 사진처럼 정확히 보여 줍니다.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왕족·귀족 무덤의 장면을 모든 사람의 생활로 일반화하면 안 됩니다.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230368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23036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20293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한 명의 유명한 화가가 고구려의 모든 고분벽화를 혼자 그렸다는 기록이 남아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0293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모든 벽화를 한 사람이 그렸다는 기록은 확인되지 않습니다.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· 6모둠 가야 고분군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가야는 왜 오랫동안 잊혔을까?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4708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1965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가야 고분군 세계유산은 여러 지역에 있는 일곱 고분군으로 이루어져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1965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세계유산은 일곱 고분군으로 구성되어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52374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52374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496312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가야는 여러 정치체가 함께 존재한 연맹적 성격을 지녔으며 지역마다 차이도 있었습니다.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6312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고분군은 가야 정치체의 공통점과 지역 차이를 보여 줍니다.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200400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200400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172968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가야는 처음부터 한 명의 왕이 모든 지역을 다스린 하나의 중앙집권 제국이었습니다.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72968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여러 정치체가 공존한 연맹적 성격으로 설명됩니다.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7705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7705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49624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세계유산에 포함된 가야 고분군 일곱 곳은 모두 같은 한 도시 안에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849624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고분군은 여러 지역에 분포합니다.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53712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55371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526280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가야 고분군은 2023년에 유네스코 세계유산으로 등재되었습니다.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2023년에 유네스코 세계유산으로 등재되었습니다.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230368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23036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20293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고분 하나마다 묻힌 사람의 이름과 일생이 모두 문헌에 남아 있어 정확히 알 수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0293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문헌이 부족해 무덤 주인과 일생을 모두 특정하기 어렵습니다.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