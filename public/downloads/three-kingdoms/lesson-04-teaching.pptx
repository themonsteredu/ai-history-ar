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8580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1">
                <a:solidFill>
                  <a:srgbClr val="1F4F40"/>
                </a:solidFill>
                <a:latin typeface="S-Core Dream"/>
              </a:rPr>
              <a:t>AI혁신학교 공개수업 · 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61872"/>
            <a:ext cx="9875520" cy="107899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42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2788920"/>
            <a:ext cx="10561320" cy="1261872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2788920"/>
            <a:ext cx="91440" cy="1261872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999232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00" b="1">
                <a:solidFill>
                  <a:srgbClr val="1F4F40"/>
                </a:solidFill>
                <a:latin typeface="S-Core Dream"/>
              </a:rPr>
              <a:t>핵심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364992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200" b="1">
                <a:solidFill>
                  <a:srgbClr val="1F4F40"/>
                </a:solidFill>
                <a:latin typeface="S-Core Dream"/>
              </a:rPr>
              <a:t>“여섯 유산을 어떻게 하나의 표로 비교할까?”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6177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100" b="0">
                <a:solidFill>
                  <a:srgbClr val="1F2925"/>
                </a:solidFill>
                <a:latin typeface="S-Core Dream"/>
              </a:rPr>
              <a:t>여섯 모둠이 똑같은 일곱 항목을 채우면</a:t>
            </a:r>
            <a:br/>
            <a:r>
              <a:rPr sz="2100" b="0">
                <a:solidFill>
                  <a:srgbClr val="1F2925"/>
                </a:solidFill>
                <a:latin typeface="S-Core Dream"/>
              </a:rPr>
              <a:t>우리 모둠 카드가 학급 데이터 표의 한 줄이 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지난 시간 우리가 한 확인에 이름 붙이기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2차시에 이미 해 본 일입니다. 이름만 붙여 봅시다.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1965960" cy="9601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1965960" cy="9601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-Core Dream"/>
              </a:rPr>
              <a:t>출처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0">
                <a:solidFill>
                  <a:srgbClr val="1F2925"/>
                </a:solidFill>
                <a:latin typeface="S-Core Dream"/>
              </a:rPr>
              <a:t>누가 만든 자료인지 확인했다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0088" y="2103120"/>
            <a:ext cx="1965960" cy="9601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103120"/>
            <a:ext cx="1965960" cy="9601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-Core Dream"/>
              </a:rPr>
              <a:t>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5468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0">
                <a:solidFill>
                  <a:srgbClr val="1F2925"/>
                </a:solidFill>
                <a:latin typeface="S-Core Dream"/>
              </a:rPr>
              <a:t>언제 만든 자료인지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2103120"/>
            <a:ext cx="1965960" cy="9601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2103120"/>
            <a:ext cx="1965960" cy="9601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-Core Dream"/>
              </a:rPr>
              <a:t>교차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315468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0">
                <a:solidFill>
                  <a:srgbClr val="1F2925"/>
                </a:solidFill>
                <a:latin typeface="S-Core Dream"/>
              </a:rPr>
              <a:t>다른 자료와 견주어 보았다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5783" y="2103120"/>
            <a:ext cx="1965960" cy="9601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3" y="2103120"/>
            <a:ext cx="1965960" cy="9601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-Core Dream"/>
              </a:rPr>
              <a:t>원본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315468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0">
                <a:solidFill>
                  <a:srgbClr val="1F2925"/>
                </a:solidFill>
                <a:latin typeface="S-Core Dream"/>
              </a:rPr>
              <a:t>요약문 대신 원본까지 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28632" y="2103120"/>
            <a:ext cx="1965960" cy="9601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8632" y="2103120"/>
            <a:ext cx="1965960" cy="9601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-Core Dream"/>
              </a:rPr>
              <a:t>보류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315468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0">
                <a:solidFill>
                  <a:srgbClr val="1F2925"/>
                </a:solidFill>
                <a:latin typeface="S-Core Dream"/>
              </a:rPr>
              <a:t>확인되지 않으면 그대로 두었다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572000"/>
            <a:ext cx="10607040" cy="960120"/>
          </a:xfrm>
          <a:prstGeom prst="roundRect">
            <a:avLst/>
          </a:prstGeom>
          <a:solidFill>
            <a:srgbClr val="FB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572000"/>
            <a:ext cx="10149840" cy="9601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900" b="1">
                <a:solidFill>
                  <a:srgbClr val="1F4F40"/>
                </a:solidFill>
                <a:latin typeface="S-Core Dream"/>
              </a:rPr>
              <a:t>이 다섯 가지로 확인한 내용을 오늘은 ‘같은 항목’에 나누어 담습니다.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오늘의 미션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조사하기가 아니라 데이터 만들기입니다.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11680"/>
            <a:ext cx="5166360" cy="2286000"/>
          </a:xfrm>
          <a:prstGeom prst="roundRect">
            <a:avLst/>
          </a:prstGeom>
          <a:solidFill>
            <a:srgbClr val="FC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800" b="1">
                <a:solidFill>
                  <a:srgbClr val="9A3E3E"/>
                </a:solidFill>
                <a:latin typeface="S-Core Dream"/>
              </a:rPr>
              <a:t>자유롭게 조사하면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80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700" b="0">
                <a:solidFill>
                  <a:srgbClr val="1F2925"/>
                </a:solidFill>
                <a:latin typeface="S-Core Dream"/>
              </a:rPr>
              <a:t>모둠마다 다른 내용을 적어서</a:t>
            </a:r>
            <a:br/>
            <a:r>
              <a:rPr sz="1700" b="0">
                <a:solidFill>
                  <a:srgbClr val="1F2925"/>
                </a:solidFill>
                <a:latin typeface="S-Core Dream"/>
              </a:rPr>
              <a:t>여섯 유산을 나란히 놓고</a:t>
            </a:r>
            <a:br/>
            <a:r>
              <a:rPr sz="1700" b="0">
                <a:solidFill>
                  <a:srgbClr val="1F2925"/>
                </a:solidFill>
                <a:latin typeface="S-Core Dream"/>
              </a:rPr>
              <a:t>비교할 수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166360" cy="2286000"/>
          </a:xfrm>
          <a:prstGeom prst="round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800" b="1">
                <a:solidFill>
                  <a:srgbClr val="1F4F40"/>
                </a:solidFill>
                <a:latin typeface="S-Core Dream"/>
              </a:rPr>
              <a:t>같은 항목으로 모으면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700" b="0">
                <a:solidFill>
                  <a:srgbClr val="1F2925"/>
                </a:solidFill>
                <a:latin typeface="S-Core Dream"/>
              </a:rPr>
              <a:t>여섯 줄이 하나의 표가 되어</a:t>
            </a:r>
            <a:br/>
            <a:r>
              <a:rPr sz="1700" b="0">
                <a:solidFill>
                  <a:srgbClr val="1F2925"/>
                </a:solidFill>
                <a:latin typeface="S-Core Dream"/>
              </a:rPr>
              <a:t>시기·가치·현재 상태를</a:t>
            </a:r>
            <a:br/>
            <a:r>
              <a:rPr sz="1700" b="0">
                <a:solidFill>
                  <a:srgbClr val="1F2925"/>
                </a:solidFill>
                <a:latin typeface="S-Core Dream"/>
              </a:rPr>
              <a:t>서로 비교할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17720"/>
            <a:ext cx="10607040" cy="100584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10149840" cy="10058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-Core Dream"/>
              </a:rPr>
              <a:t>우리 모둠 카드가 학급 데이터 표의 한 줄이 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우리가 채울 일곱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활동지 표와 같은 순서, 같은 이름입니다.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2377440" cy="384048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-Core Dream"/>
              </a:rPr>
              <a:t>조사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38528"/>
            <a:ext cx="8183879" cy="384048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938528"/>
            <a:ext cx="800100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-Core Dream"/>
              </a:rPr>
              <a:t>무엇을 찾나요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377440"/>
            <a:ext cx="2377440" cy="50292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500" b="1">
                <a:solidFill>
                  <a:srgbClr val="1F4F40"/>
                </a:solidFill>
                <a:latin typeface="S-Core Dream"/>
              </a:rPr>
              <a:t>시기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377440"/>
            <a:ext cx="8183879" cy="50292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377440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400" b="0">
                <a:solidFill>
                  <a:srgbClr val="1F2925"/>
                </a:solidFill>
                <a:latin typeface="S-Core Dream"/>
              </a:rPr>
              <a:t>언제 만들었는지 (세기·왕 이름)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944368"/>
            <a:ext cx="2377440" cy="50292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443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500" b="1">
                <a:solidFill>
                  <a:srgbClr val="1F4F40"/>
                </a:solidFill>
                <a:latin typeface="S-Core Dream"/>
              </a:rPr>
              <a:t>만든 까닭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944368"/>
            <a:ext cx="8183879" cy="50292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944368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400" b="0">
                <a:solidFill>
                  <a:srgbClr val="1F2925"/>
                </a:solidFill>
                <a:latin typeface="S-Core Dream"/>
              </a:rPr>
              <a:t>무엇을 위해 만들었는지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11296"/>
            <a:ext cx="2377440" cy="50292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1129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500" b="1">
                <a:solidFill>
                  <a:srgbClr val="1F4F40"/>
                </a:solidFill>
                <a:latin typeface="S-Core Dream"/>
              </a:rPr>
              <a:t>가치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11296"/>
            <a:ext cx="8183879" cy="50292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511296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400" b="0">
                <a:solidFill>
                  <a:srgbClr val="1F2925"/>
                </a:solidFill>
                <a:latin typeface="S-Core Dream"/>
              </a:rPr>
              <a:t>왜 중요한 유산인지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078224"/>
            <a:ext cx="2377440" cy="50292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78224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500" b="1">
                <a:solidFill>
                  <a:srgbClr val="1F4F40"/>
                </a:solidFill>
                <a:latin typeface="S-Core Dream"/>
              </a:rPr>
              <a:t>현재 상태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078224"/>
            <a:ext cx="8183879" cy="50292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4078224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400" b="0">
                <a:solidFill>
                  <a:srgbClr val="1F2925"/>
                </a:solidFill>
                <a:latin typeface="S-Core Dream"/>
              </a:rPr>
              <a:t>지금 어디에 어떤 모습으로 남아 있는지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45152"/>
            <a:ext cx="2377440" cy="50292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4515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500" b="1">
                <a:solidFill>
                  <a:srgbClr val="1F4F40"/>
                </a:solidFill>
                <a:latin typeface="S-Core Dream"/>
              </a:rPr>
              <a:t>AI 오류 바로잡기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645152"/>
            <a:ext cx="8183879" cy="50292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464515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400" b="0">
                <a:solidFill>
                  <a:srgbClr val="1F2925"/>
                </a:solidFill>
                <a:latin typeface="S-Core Dream"/>
              </a:rPr>
              <a:t>2차시에서 ×였던 문장을 바르게 고쳐 쓰기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12080"/>
            <a:ext cx="2377440" cy="50292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120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500" b="1">
                <a:solidFill>
                  <a:srgbClr val="1F4F40"/>
                </a:solidFill>
                <a:latin typeface="S-Core Dream"/>
              </a:rPr>
              <a:t>아직 모름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212080"/>
            <a:ext cx="8183879" cy="50292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5212080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400" b="0">
                <a:solidFill>
                  <a:srgbClr val="1F2925"/>
                </a:solidFill>
                <a:latin typeface="S-Core Dream"/>
              </a:rPr>
              <a:t>자료로 확인되지 않은 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779008"/>
            <a:ext cx="2377440" cy="502920"/>
          </a:xfrm>
          <a:prstGeom prst="rect">
            <a:avLst/>
          </a:prstGeom>
          <a:solidFill>
            <a:srgbClr val="FB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7790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500" b="1">
                <a:solidFill>
                  <a:srgbClr val="1F4F40"/>
                </a:solidFill>
                <a:latin typeface="S-Core Dream"/>
              </a:rPr>
              <a:t>출처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779008"/>
            <a:ext cx="8183879" cy="50292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5779008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400" b="0">
                <a:solidFill>
                  <a:srgbClr val="1F2925"/>
                </a:solidFill>
                <a:latin typeface="S-Core Dream"/>
              </a:rPr>
              <a:t>확인한 기관 이름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조사 시간 안내 · 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공식 자료부터 순서대로 확인합니다.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11680"/>
            <a:ext cx="6309360" cy="56692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-Core Dream"/>
              </a:rPr>
              <a:t>1순위  국가유산청 국가유산포털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24912"/>
            <a:ext cx="6309360" cy="56692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24912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-Core Dream"/>
              </a:rPr>
              <a:t>2순위  국립중앙박물관·국립부여박물관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38144"/>
            <a:ext cx="6309360" cy="56692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38144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-Core Dream"/>
              </a:rPr>
              <a:t>3순위  유네스코 세계유산센터·우리역사넷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51376"/>
            <a:ext cx="6309360" cy="566928"/>
          </a:xfrm>
          <a:prstGeom prst="roundRect">
            <a:avLst/>
          </a:prstGeom>
          <a:solidFill>
            <a:srgbClr val="FB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51376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500" b="0">
                <a:solidFill>
                  <a:srgbClr val="1F2925"/>
                </a:solidFill>
                <a:latin typeface="S-Core Dream"/>
              </a:rPr>
              <a:t>비교용  블로그·영상·AI 답변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3977639" cy="2706624"/>
          </a:xfrm>
          <a:prstGeom prst="round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14884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500" b="1">
                <a:solidFill>
                  <a:srgbClr val="1F4F40"/>
                </a:solidFill>
                <a:latin typeface="S-Core Dream"/>
              </a:rPr>
              <a:t>이렇게 적습니다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560320"/>
            <a:ext cx="3520440" cy="201168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400" b="0">
                <a:solidFill>
                  <a:srgbClr val="1F2925"/>
                </a:solidFill>
                <a:latin typeface="S-Core Dream"/>
              </a:rPr>
              <a:t>• 문장 말고 핵심 낱말만</a:t>
            </a:r>
            <a:br/>
            <a:r>
              <a:rPr sz="1400" b="0">
                <a:solidFill>
                  <a:srgbClr val="1F2925"/>
                </a:solidFill>
                <a:latin typeface="S-Core Dream"/>
              </a:rPr>
              <a:t>• 항목마다 확인한 출처도 함께</a:t>
            </a:r>
            <a:br/>
            <a:r>
              <a:rPr sz="1400" b="0">
                <a:solidFill>
                  <a:srgbClr val="1F2925"/>
                </a:solidFill>
                <a:latin typeface="S-Core Dream"/>
              </a:rPr>
              <a:t>• 확인 못 한 항목은</a:t>
            </a:r>
            <a:br/>
            <a:r>
              <a:rPr sz="1400" b="0">
                <a:solidFill>
                  <a:srgbClr val="1F2925"/>
                </a:solidFill>
                <a:latin typeface="S-Core Dream"/>
              </a:rPr>
              <a:t>   ‘아직 모름’으로 남기기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83480"/>
            <a:ext cx="10607040" cy="91440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83480"/>
            <a:ext cx="10149840" cy="9144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700" b="1">
                <a:solidFill>
                  <a:srgbClr val="1F4F40"/>
                </a:solidFill>
                <a:latin typeface="S-Core Dream"/>
              </a:rPr>
              <a:t>웹앱: 수업 사이트 → 삼국시대 → 4차시 → ‘활동지 수업’ 탭 (로그인 없이 모둠만 선택)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모둠 발표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일곱 항목을 순서대로 읽으면 그대로 발표가 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11680"/>
            <a:ext cx="10607040" cy="2651760"/>
          </a:xfrm>
          <a:prstGeom prst="round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900" b="0">
                <a:solidFill>
                  <a:srgbClr val="1F2925"/>
                </a:solidFill>
                <a:latin typeface="S-Core Dream"/>
              </a:rPr>
              <a:t>우리 모둠은 ___모둠, ___을 조사했습니다.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900" b="0">
                <a:solidFill>
                  <a:srgbClr val="1F2925"/>
                </a:solidFill>
                <a:latin typeface="S-Core Dream"/>
              </a:rPr>
              <a:t>시기는 ___, 만든 까닭은 ___, 가치는 ___입니다.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461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900" b="0">
                <a:solidFill>
                  <a:srgbClr val="1F2925"/>
                </a:solidFill>
                <a:latin typeface="S-Core Dream"/>
              </a:rPr>
              <a:t>현재 상태는 ___이고, AI가 틀린 부분은 ___로 고쳤습니다.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000" b="1">
                <a:solidFill>
                  <a:srgbClr val="1F4F40"/>
                </a:solidFill>
                <a:latin typeface="S-Core Dream"/>
              </a:rPr>
              <a:t>아직 모르는 점은 ___이고, 출처는 ___입니다.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937760"/>
            <a:ext cx="10607040" cy="868680"/>
          </a:xfrm>
          <a:prstGeom prst="roundRect">
            <a:avLst/>
          </a:prstGeom>
          <a:solidFill>
            <a:srgbClr val="FB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10149840" cy="86868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800" b="1">
                <a:solidFill>
                  <a:srgbClr val="1F4F40"/>
                </a:solidFill>
                <a:latin typeface="S-Core Dream"/>
              </a:rPr>
              <a:t>발표를 들은 뒤에 그 모둠의 정답 슬라이드를 엽니다.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1모둠 정답 · 무령왕릉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이 모둠의 발표를 들은 뒤에 공개하세요.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274320"/>
            <a:ext cx="1783080" cy="475488"/>
          </a:xfrm>
          <a:prstGeom prst="roundRect">
            <a:avLst/>
          </a:prstGeom>
          <a:solidFill>
            <a:srgbClr val="A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0" y="274320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발표 후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011680"/>
            <a:ext cx="11018520" cy="18288"/>
          </a:xfrm>
          <a:prstGeom prst="rect">
            <a:avLst/>
          </a:prstGeom>
          <a:solidFill>
            <a:srgbClr val="7A5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212140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140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214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백제 무령왕 때, 6세기 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697479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97479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만든 까닭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97479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무령왕과 왕비를 모시기 위해 만든 벽돌무덤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273552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73552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가치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7355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지석 덕분에 무덤 주인과 시기를 아는 삼국시대 왕릉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849624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49624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현재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849624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공주 무령왕릉과 왕릉원에 남아 있고 유물은 국립공주박물관 소장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425696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25696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AI 오류 바로잡기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425696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‘도굴되어 유물이 사라졌다’ → 도굴되지 않아 많은 유물이 함께 나왔다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00176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00176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아직 모름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00176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유물이 놓인 까닭과 장례의 모든 과정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577840"/>
            <a:ext cx="2148840" cy="502920"/>
          </a:xfrm>
          <a:prstGeom prst="roundRect">
            <a:avLst/>
          </a:prstGeom>
          <a:solidFill>
            <a:srgbClr val="7A5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7784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출처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5778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국립공주박물관·국립중앙박물관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309360"/>
            <a:ext cx="11018520" cy="329184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100" b="0">
                <a:solidFill>
                  <a:srgbClr val="64716C"/>
                </a:solidFill>
                <a:latin typeface="S-Core Dream"/>
              </a:rPr>
              <a:t>우선 확인처: 국립공주박물관·국립중앙박물관 무령왕릉 자료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2모둠 정답 · 백제 금동대향로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이 모둠의 발표를 들은 뒤에 공개하세요.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274320"/>
            <a:ext cx="1783080" cy="475488"/>
          </a:xfrm>
          <a:prstGeom prst="roundRect">
            <a:avLst/>
          </a:prstGeom>
          <a:solidFill>
            <a:srgbClr val="A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0" y="274320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발표 후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011680"/>
            <a:ext cx="11018520" cy="18288"/>
          </a:xfrm>
          <a:prstGeom prst="rect">
            <a:avLst/>
          </a:prstGeom>
          <a:solidFill>
            <a:srgbClr val="3D7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212140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140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214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백제, 6~7세기 무렵 (1993년 출토)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697479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97479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만든 까닭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97479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절에서 의례에 쓰기 위해 만든 향로로 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273552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73552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가치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7355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백제의 금속 공예 기술과 정신세계를 보여 주는 대표 유물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849624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49624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현재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849624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국립부여박물관에 소장·전시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425696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25696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AI 오류 바로잡기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425696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‘왕의 무덤에서 나온 순금 유물’ → 능산리 절터 출토, 청동에 금을 입힌 금동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00176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00176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아직 모름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00176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새겨진 인물·동물 무늬가 각각 무엇을 뜻하는지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577840"/>
            <a:ext cx="2148840" cy="502920"/>
          </a:xfrm>
          <a:prstGeom prst="roundRect">
            <a:avLst/>
          </a:prstGeom>
          <a:solidFill>
            <a:srgbClr val="3D7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7784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출처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5778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국립부여박물관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309360"/>
            <a:ext cx="11018520" cy="329184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100" b="0">
                <a:solidFill>
                  <a:srgbClr val="64716C"/>
                </a:solidFill>
                <a:latin typeface="S-Core Dream"/>
              </a:rPr>
              <a:t>우선 확인처: 국립부여박물관 백제 금동대향로 자료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3모둠 정답 · 첨성대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이 모둠의 발표를 들은 뒤에 공개하세요.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274320"/>
            <a:ext cx="1783080" cy="475488"/>
          </a:xfrm>
          <a:prstGeom prst="roundRect">
            <a:avLst/>
          </a:prstGeom>
          <a:solidFill>
            <a:srgbClr val="A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0" y="274320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발표 후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011680"/>
            <a:ext cx="11018520" cy="18288"/>
          </a:xfrm>
          <a:prstGeom prst="rect">
            <a:avLst/>
          </a:prstGeom>
          <a:solidFill>
            <a:srgbClr val="34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212140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140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214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신라 선덕여왕 때, 7세기로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697479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97479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만든 까닭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97479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하늘(천문) 관측과 관련된 시설로 설명된다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273552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73552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가치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7355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남아 있는 가장 오래된 천문 관련 석조 건축물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849624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49624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현재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849624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경주에 원래 자리 그대로 남아 국가유산으로 관리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425696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25696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AI 오류 바로잡기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425696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‘망원경으로 별을 보았다’ → 망원경은 훨씬 뒤에 나왔고 돌을 쌓은 구조물이다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00176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00176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아직 모름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00176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누가 어떤 자세·도구로 관측했는지, 돌 개수의 상징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577840"/>
            <a:ext cx="2148840" cy="502920"/>
          </a:xfrm>
          <a:prstGeom prst="roundRect">
            <a:avLst/>
          </a:prstGeom>
          <a:solidFill>
            <a:srgbClr val="34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7784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출처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5778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국가유산청 국가유산포털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309360"/>
            <a:ext cx="11018520" cy="329184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100" b="0">
                <a:solidFill>
                  <a:srgbClr val="64716C"/>
                </a:solidFill>
                <a:latin typeface="S-Core Dream"/>
              </a:rPr>
              <a:t>우선 확인처: 국가유산청 경주 첨성대 안내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4모둠 정답 · 신라 금관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이 모둠의 발표를 들은 뒤에 공개하세요.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274320"/>
            <a:ext cx="1783080" cy="475488"/>
          </a:xfrm>
          <a:prstGeom prst="roundRect">
            <a:avLst/>
          </a:prstGeom>
          <a:solidFill>
            <a:srgbClr val="A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0" y="274320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발표 후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011680"/>
            <a:ext cx="11018520" cy="18288"/>
          </a:xfrm>
          <a:prstGeom prst="rect">
            <a:avLst/>
          </a:prstGeom>
          <a:solidFill>
            <a:srgbClr val="B1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212140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140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214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신라, 5~6세기 무렵 왕릉급 무덤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697479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97479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만든 까닭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97479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무덤 주인의 권위를 드러내는 껴묻거리로 만들었다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273552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73552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가치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7355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얇은 금판·세움 장식·굽은옥으로 신라의 황금 문화를 보여 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849624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49624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현재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849624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국립중앙박물관·국립경주박물관 등에 소장·전시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425696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25696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AI 오류 바로잡기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425696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‘왕이 평소 매일 썼다’ → 일상 착용 근거가 없고 부장품 성격이 강하다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00176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00176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아직 모름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00176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생전에 실제로 썼는지, 장례를 위해 만들었는지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577840"/>
            <a:ext cx="2148840" cy="502920"/>
          </a:xfrm>
          <a:prstGeom prst="roundRect">
            <a:avLst/>
          </a:prstGeom>
          <a:solidFill>
            <a:srgbClr val="B1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7784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출처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5778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국립중앙박물관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309360"/>
            <a:ext cx="11018520" cy="329184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100" b="0">
                <a:solidFill>
                  <a:srgbClr val="64716C"/>
                </a:solidFill>
                <a:latin typeface="S-Core Dream"/>
              </a:rPr>
              <a:t>우선 확인처: 국립중앙박물관 신라 금관 자료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5모둠 정답 · 고구려 고분벽화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이 모둠의 발표를 들은 뒤에 공개하세요.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274320"/>
            <a:ext cx="1783080" cy="475488"/>
          </a:xfrm>
          <a:prstGeom prst="roundRect">
            <a:avLst/>
          </a:prstGeom>
          <a:solidFill>
            <a:srgbClr val="A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0" y="274320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발표 후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011680"/>
            <a:ext cx="11018520" cy="18288"/>
          </a:xfrm>
          <a:prstGeom prst="rect">
            <a:avLst/>
          </a:prstGeom>
          <a:solidFill>
            <a:srgbClr val="8A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212140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140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214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고구려, 4~7세기 무덤에 그렸다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697479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97479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만든 까닭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97479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왕족·귀족의 무덤 안에 생활과 믿음을 담아 그렸다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273552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73552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가치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7355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기록이 적은 고구려의 생활·복식·믿음을 보여 주는 세계유산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849624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49624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현재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849624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북한과 중국 동북 지역에 나뉘어 있어 사진·모사도로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425696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25696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AI 오류 바로잡기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425696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‘모든 고구려 무덤에 벽화가 있다’ → 일부 무덤에만 남아 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00176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00176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아직 모름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00176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벽화 장면이 모든 고구려 사람의 생활인지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577840"/>
            <a:ext cx="2148840" cy="502920"/>
          </a:xfrm>
          <a:prstGeom prst="roundRect">
            <a:avLst/>
          </a:prstGeom>
          <a:solidFill>
            <a:srgbClr val="8A4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7784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출처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5778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유네스코 세계유산센터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309360"/>
            <a:ext cx="11018520" cy="329184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100" b="0">
                <a:solidFill>
                  <a:srgbClr val="64716C"/>
                </a:solidFill>
                <a:latin typeface="S-Core Dream"/>
              </a:rPr>
              <a:t>우선 확인처: 유네스코 고구려 고분군·국립박물관 자료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6모둠 정답 · 가야 고분군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이 모둠의 발표를 들은 뒤에 공개하세요.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274320"/>
            <a:ext cx="1783080" cy="475488"/>
          </a:xfrm>
          <a:prstGeom prst="roundRect">
            <a:avLst/>
          </a:prstGeom>
          <a:solidFill>
            <a:srgbClr val="A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0" y="274320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발표 후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011680"/>
            <a:ext cx="11018520" cy="18288"/>
          </a:xfrm>
          <a:prstGeom prst="rect">
            <a:avLst/>
          </a:prstGeom>
          <a:solidFill>
            <a:srgbClr val="C87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212140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140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214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1~6세기 무렵 가야 여러 정치체의 무덤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697479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97479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만든 까닭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97479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각 지역 지배층의 무덤으로 만들어졌다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273552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73552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가치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7355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여러 정치체가 나란히 있던 가야를 보여 주는 세계유산(2023년 등재)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849624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49624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현재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849624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김해·함안·고령·합천 등 일곱 고분군으로 남아 관리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425696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25696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AI 오류 바로잡기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425696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‘처음부터 하나의 중앙집권 국가였다’ → 여러 정치체가 함께한 연맹적 성격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001768"/>
            <a:ext cx="2148840" cy="502920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001768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아직 모름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00176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고분마다 묻힌 사람의 이름과 일생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577840"/>
            <a:ext cx="2148840" cy="502920"/>
          </a:xfrm>
          <a:prstGeom prst="roundRect">
            <a:avLst/>
          </a:prstGeom>
          <a:solidFill>
            <a:srgbClr val="C87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7784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출처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5778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350" b="0">
                <a:solidFill>
                  <a:srgbClr val="1F2925"/>
                </a:solidFill>
                <a:latin typeface="S-Core Dream"/>
              </a:rPr>
              <a:t>국가유산청·유네스코 세계유산센터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309360"/>
            <a:ext cx="11018520" cy="329184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100" b="0">
                <a:solidFill>
                  <a:srgbClr val="64716C"/>
                </a:solidFill>
                <a:latin typeface="S-Core Dream"/>
              </a:rPr>
              <a:t>우선 확인처: 국가유산청 가야고분군·유네스코 자료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9184"/>
            <a:ext cx="1051560" cy="384048"/>
          </a:xfrm>
          <a:prstGeom prst="round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-Core Dream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256032"/>
            <a:ext cx="6035040" cy="53035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500" b="1">
                <a:solidFill>
                  <a:srgbClr val="1F2925"/>
                </a:solidFill>
                <a:latin typeface="S-Core Dream"/>
              </a:rPr>
              <a:t>우리 모둠 데이터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200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r"/>
            <a:r>
              <a:rPr sz="900" b="0">
                <a:solidFill>
                  <a:srgbClr val="64716C"/>
                </a:solidFill>
                <a:latin typeface="S-Core Dream"/>
              </a:rPr>
              <a:t>삼국시대 · 교사용 수업 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50392"/>
            <a:ext cx="11183112" cy="22860"/>
          </a:xfrm>
          <a:prstGeom prst="rect">
            <a:avLst/>
          </a:prstGeom>
          <a:solidFill>
            <a:srgbClr val="2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2800" b="1">
                <a:solidFill>
                  <a:srgbClr val="1F2925"/>
                </a:solidFill>
                <a:latin typeface="S-Core Dream"/>
              </a:rPr>
              <a:t>여섯 모둠 데이터를 한 표로 모으면?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l"/>
            <a:r>
              <a:rPr sz="1200" b="0">
                <a:solidFill>
                  <a:srgbClr val="64716C"/>
                </a:solidFill>
                <a:latin typeface="S-Core Dream"/>
              </a:rPr>
              <a:t>다음 시간에 학급 데이터 표를 정제합니다.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57400"/>
            <a:ext cx="822959" cy="457200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7400"/>
            <a:ext cx="822959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-Core Dream"/>
              </a:rPr>
              <a:t>모둠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7048" y="2057400"/>
            <a:ext cx="1554480" cy="457200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20574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-Core Dream"/>
              </a:rPr>
              <a:t>유산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057400"/>
            <a:ext cx="1097280" cy="457200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0574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-Core Dream"/>
              </a:rPr>
              <a:t>시기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2057400"/>
            <a:ext cx="1280160" cy="457200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20574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-Core Dream"/>
              </a:rPr>
              <a:t>만든 까닭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96128" y="2057400"/>
            <a:ext cx="1005839" cy="457200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2057400"/>
            <a:ext cx="1005839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-Core Dream"/>
              </a:rPr>
              <a:t>가치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7688" y="2057400"/>
            <a:ext cx="1280160" cy="457200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20574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-Core Dream"/>
              </a:rPr>
              <a:t>현재 상태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7" y="2057400"/>
            <a:ext cx="1645920" cy="457200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7" y="20574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-Core Dream"/>
              </a:rPr>
              <a:t>AI 오류 바로잡기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65207" y="2057400"/>
            <a:ext cx="1097280" cy="457200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7" y="20574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-Core Dream"/>
              </a:rPr>
              <a:t>아직 모름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08207" y="2057400"/>
            <a:ext cx="914400" cy="457200"/>
          </a:xfrm>
          <a:prstGeom prst="rect">
            <a:avLst/>
          </a:prstGeom>
          <a:solidFill>
            <a:srgbClr val="1F4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8207" y="2057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-Core Dream"/>
              </a:rPr>
              <a:t>출처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560320"/>
            <a:ext cx="822959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560320"/>
            <a:ext cx="822959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00" b="1">
                <a:solidFill>
                  <a:srgbClr val="1F4F40"/>
                </a:solidFill>
                <a:latin typeface="S-Core Dream"/>
              </a:rPr>
              <a:t>1모둠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27048" y="2560320"/>
            <a:ext cx="155448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27048" y="25603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950" b="0">
                <a:solidFill>
                  <a:srgbClr val="1F2925"/>
                </a:solidFill>
                <a:latin typeface="S-Core Dream"/>
              </a:rPr>
              <a:t>무령왕릉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2560320"/>
            <a:ext cx="109728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70248" y="2560320"/>
            <a:ext cx="128016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6128" y="2560320"/>
            <a:ext cx="1005839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47688" y="2560320"/>
            <a:ext cx="128016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73567" y="2560320"/>
            <a:ext cx="164592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65207" y="2560320"/>
            <a:ext cx="109728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08207" y="2560320"/>
            <a:ext cx="91440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2962656"/>
            <a:ext cx="822959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62656"/>
            <a:ext cx="822959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00" b="1">
                <a:solidFill>
                  <a:srgbClr val="1F4F40"/>
                </a:solidFill>
                <a:latin typeface="S-Core Dream"/>
              </a:rPr>
              <a:t>2모둠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27048" y="2962656"/>
            <a:ext cx="155448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27048" y="296265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950" b="0">
                <a:solidFill>
                  <a:srgbClr val="1F2925"/>
                </a:solidFill>
                <a:latin typeface="S-Core Dream"/>
              </a:rPr>
              <a:t>백제 금동대향로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27248" y="2962656"/>
            <a:ext cx="109728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2962656"/>
            <a:ext cx="128016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596128" y="2962656"/>
            <a:ext cx="1005839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47688" y="2962656"/>
            <a:ext cx="128016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73567" y="2962656"/>
            <a:ext cx="164592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65207" y="2962656"/>
            <a:ext cx="109728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808207" y="2962656"/>
            <a:ext cx="91440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" y="3364991"/>
            <a:ext cx="822959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3364991"/>
            <a:ext cx="822959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00" b="1">
                <a:solidFill>
                  <a:srgbClr val="1F4F40"/>
                </a:solidFill>
                <a:latin typeface="S-Core Dream"/>
              </a:rPr>
              <a:t>3모둠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27048" y="3364991"/>
            <a:ext cx="155448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27048" y="3364991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950" b="0">
                <a:solidFill>
                  <a:srgbClr val="1F2925"/>
                </a:solidFill>
                <a:latin typeface="S-Core Dream"/>
              </a:rPr>
              <a:t>첨성대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27248" y="3364991"/>
            <a:ext cx="109728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70248" y="3364991"/>
            <a:ext cx="128016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96128" y="3364991"/>
            <a:ext cx="1005839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47688" y="3364991"/>
            <a:ext cx="128016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73567" y="3364991"/>
            <a:ext cx="164592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65207" y="3364991"/>
            <a:ext cx="109728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808207" y="3364991"/>
            <a:ext cx="91440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8368" y="3767328"/>
            <a:ext cx="822959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3767328"/>
            <a:ext cx="822959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00" b="1">
                <a:solidFill>
                  <a:srgbClr val="1F4F40"/>
                </a:solidFill>
                <a:latin typeface="S-Core Dream"/>
              </a:rPr>
              <a:t>4모둠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27048" y="3767328"/>
            <a:ext cx="155448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27048" y="376732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950" b="0">
                <a:solidFill>
                  <a:srgbClr val="1F2925"/>
                </a:solidFill>
                <a:latin typeface="S-Core Dream"/>
              </a:rPr>
              <a:t>신라 금관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27248" y="3767328"/>
            <a:ext cx="109728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70248" y="3767328"/>
            <a:ext cx="128016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6128" y="3767328"/>
            <a:ext cx="1005839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47688" y="3767328"/>
            <a:ext cx="128016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73567" y="3767328"/>
            <a:ext cx="164592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65207" y="3767328"/>
            <a:ext cx="109728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808207" y="3767328"/>
            <a:ext cx="91440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8368" y="4169663"/>
            <a:ext cx="822959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4169663"/>
            <a:ext cx="822959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00" b="1">
                <a:solidFill>
                  <a:srgbClr val="1F4F40"/>
                </a:solidFill>
                <a:latin typeface="S-Core Dream"/>
              </a:rPr>
              <a:t>5모둠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27048" y="4169663"/>
            <a:ext cx="155448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27048" y="4169663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950" b="0">
                <a:solidFill>
                  <a:srgbClr val="1F2925"/>
                </a:solidFill>
                <a:latin typeface="S-Core Dream"/>
              </a:rPr>
              <a:t>고구려 고분벽화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27248" y="4169663"/>
            <a:ext cx="109728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70248" y="4169663"/>
            <a:ext cx="128016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596128" y="4169663"/>
            <a:ext cx="1005839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47688" y="4169663"/>
            <a:ext cx="128016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973567" y="4169663"/>
            <a:ext cx="164592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65207" y="4169663"/>
            <a:ext cx="109728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808207" y="4169663"/>
            <a:ext cx="914400" cy="365760"/>
          </a:xfrm>
          <a:prstGeom prst="rect">
            <a:avLst/>
          </a:prstGeom>
          <a:solidFill>
            <a:srgbClr val="EA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58368" y="4572000"/>
            <a:ext cx="822959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8368" y="4572000"/>
            <a:ext cx="822959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000" b="1">
                <a:solidFill>
                  <a:srgbClr val="1F4F40"/>
                </a:solidFill>
                <a:latin typeface="S-Core Dream"/>
              </a:rPr>
              <a:t>6모둠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27048" y="4572000"/>
            <a:ext cx="155448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27048" y="4572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950" b="0">
                <a:solidFill>
                  <a:srgbClr val="1F2925"/>
                </a:solidFill>
                <a:latin typeface="S-Core Dream"/>
              </a:rPr>
              <a:t>가야 고분군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127248" y="4572000"/>
            <a:ext cx="109728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70248" y="4572000"/>
            <a:ext cx="128016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596128" y="4572000"/>
            <a:ext cx="1005839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647688" y="4572000"/>
            <a:ext cx="128016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973567" y="4572000"/>
            <a:ext cx="164592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665207" y="4572000"/>
            <a:ext cx="109728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808207" y="4572000"/>
            <a:ext cx="914400" cy="36576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58368" y="5120640"/>
            <a:ext cx="10881360" cy="960120"/>
          </a:xfrm>
          <a:prstGeom prst="roundRect">
            <a:avLst/>
          </a:prstGeom>
          <a:solidFill>
            <a:srgbClr val="FB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14400" y="5120640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wrap="none" lIns="64008" rIns="64008" anchor="ctr">
            <a:spAutoFit/>
          </a:bodyPr>
          <a:lstStyle/>
          <a:p>
            <a:pPr algn="ctr"/>
            <a:r>
              <a:rPr sz="1900" b="1">
                <a:solidFill>
                  <a:srgbClr val="1F4F40"/>
                </a:solidFill>
                <a:latin typeface="S-Core Dream"/>
              </a:rPr>
              <a:t>다음 시간 · 표기가 다른 칸, 빈칸, 겹치는 줄을 찾아 하나의 기준으로 정제합니다.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