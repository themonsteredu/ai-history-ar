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138aa7c66fe49a1" /><Relationship Type="http://schemas.openxmlformats.org/officeDocument/2006/relationships/extended-properties" Target="/docProps/app.xml" Id="R85e9705346284db2" /><Relationship Type="http://schemas.openxmlformats.org/officeDocument/2006/relationships/officeDocument" Target="/ppt/presentation.xml" Id="R76b9e11bcf9c46b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81de41614d44918"/>
  </p:sldMasterIdLst>
  <p:notesMasterIdLst>
    <p:notesMasterId xmlns:r="http://schemas.openxmlformats.org/officeDocument/2006/relationships" r:id="R70a923e25b12447c"/>
  </p:notesMasterIdLst>
  <p:sldIdLst>
    <p:sldId xmlns:r="http://schemas.openxmlformats.org/officeDocument/2006/relationships" id="256" r:id="R3eb7d41cdab04b5f"/>
    <p:sldId xmlns:r="http://schemas.openxmlformats.org/officeDocument/2006/relationships" id="257" r:id="Rd3fd92346bf845f4"/>
    <p:sldId xmlns:r="http://schemas.openxmlformats.org/officeDocument/2006/relationships" id="258" r:id="Ref7b69a7f63040de"/>
    <p:sldId xmlns:r="http://schemas.openxmlformats.org/officeDocument/2006/relationships" id="259" r:id="R51133de979fb4363"/>
    <p:sldId xmlns:r="http://schemas.openxmlformats.org/officeDocument/2006/relationships" id="260" r:id="Rf669c3c62d284ca3"/>
    <p:sldId xmlns:r="http://schemas.openxmlformats.org/officeDocument/2006/relationships" id="261" r:id="R355fe85799b444a6"/>
    <p:sldId xmlns:r="http://schemas.openxmlformats.org/officeDocument/2006/relationships" id="262" r:id="R48c4b88454b94f3d"/>
    <p:sldId xmlns:r="http://schemas.openxmlformats.org/officeDocument/2006/relationships" id="263" r:id="R5abaae1c69484ec2"/>
    <p:sldId xmlns:r="http://schemas.openxmlformats.org/officeDocument/2006/relationships" id="264" r:id="Rf5f1315160254b73"/>
    <p:sldId xmlns:r="http://schemas.openxmlformats.org/officeDocument/2006/relationships" id="265" r:id="R9dafc279b04948d2"/>
    <p:sldId xmlns:r="http://schemas.openxmlformats.org/officeDocument/2006/relationships" id="266" r:id="R621754624dc84439"/>
    <p:sldId xmlns:r="http://schemas.openxmlformats.org/officeDocument/2006/relationships" id="267" r:id="R726605b8066449ee"/>
    <p:sldId xmlns:r="http://schemas.openxmlformats.org/officeDocument/2006/relationships" id="268" r:id="Re8fa6e28a4d1479e"/>
    <p:sldId xmlns:r="http://schemas.openxmlformats.org/officeDocument/2006/relationships" id="269" r:id="R45d3add0b6f44a60"/>
    <p:sldId xmlns:r="http://schemas.openxmlformats.org/officeDocument/2006/relationships" id="270" r:id="R44767e65a44b4731"/>
    <p:sldId xmlns:r="http://schemas.openxmlformats.org/officeDocument/2006/relationships" id="271" r:id="R8606d9fc9016488c"/>
    <p:sldId xmlns:r="http://schemas.openxmlformats.org/officeDocument/2006/relationships" id="272" r:id="R881bb066801d458a"/>
    <p:sldId xmlns:r="http://schemas.openxmlformats.org/officeDocument/2006/relationships" id="273" r:id="R29a7329650f14487"/>
    <p:sldId xmlns:r="http://schemas.openxmlformats.org/officeDocument/2006/relationships" id="274" r:id="R41e9dc5cc80f4186"/>
    <p:sldId xmlns:r="http://schemas.openxmlformats.org/officeDocument/2006/relationships" id="275" r:id="Rdfdc2cc716f24065"/>
    <p:sldId xmlns:r="http://schemas.openxmlformats.org/officeDocument/2006/relationships" id="276" r:id="R2f5fe05fc0354827"/>
    <p:sldId xmlns:r="http://schemas.openxmlformats.org/officeDocument/2006/relationships" id="277" r:id="R35a72eebc7634fbf"/>
    <p:sldId xmlns:r="http://schemas.openxmlformats.org/officeDocument/2006/relationships" id="278" r:id="R685ad3954e294e01"/>
    <p:sldId xmlns:r="http://schemas.openxmlformats.org/officeDocument/2006/relationships" id="279" r:id="Rd6814705aa054b02"/>
    <p:sldId xmlns:r="http://schemas.openxmlformats.org/officeDocument/2006/relationships" id="280" r:id="R67d66c0f06424dee"/>
    <p:sldId xmlns:r="http://schemas.openxmlformats.org/officeDocument/2006/relationships" id="281" r:id="Rbd7bcd82fa7143ee"/>
    <p:sldId xmlns:r="http://schemas.openxmlformats.org/officeDocument/2006/relationships" id="282" r:id="R80a8751ffb94447a"/>
    <p:sldId xmlns:r="http://schemas.openxmlformats.org/officeDocument/2006/relationships" id="283" r:id="Rc8db5101878c4cf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63e9daea0e54335" /><Relationship Type="http://schemas.openxmlformats.org/officeDocument/2006/relationships/slideMaster" Target="/ppt/slideMasters/slideMaster1.xml" Id="R781de41614d44918" /><Relationship Type="http://schemas.openxmlformats.org/officeDocument/2006/relationships/notesMaster" Target="/ppt/notesMasters/notesMaster1.xml" Id="R70a923e25b12447c" /><Relationship Type="http://schemas.openxmlformats.org/officeDocument/2006/relationships/presProps" Target="/ppt/presProps.xml" Id="Rf5b99119718c4bf6" /><Relationship Type="http://schemas.openxmlformats.org/officeDocument/2006/relationships/tableStyles" Target="/ppt/tableStyles.xml" Id="R32438ca5bff84a64" /><Relationship Type="http://schemas.openxmlformats.org/officeDocument/2006/relationships/slide" Target="/ppt/slides/slide1.xml" Id="R3eb7d41cdab04b5f" /><Relationship Type="http://schemas.openxmlformats.org/officeDocument/2006/relationships/slide" Target="/ppt/slides/slide2.xml" Id="Rd3fd92346bf845f4" /><Relationship Type="http://schemas.openxmlformats.org/officeDocument/2006/relationships/slide" Target="/ppt/slides/slide3.xml" Id="Ref7b69a7f63040de" /><Relationship Type="http://schemas.openxmlformats.org/officeDocument/2006/relationships/slide" Target="/ppt/slides/slide4.xml" Id="R51133de979fb4363" /><Relationship Type="http://schemas.openxmlformats.org/officeDocument/2006/relationships/slide" Target="/ppt/slides/slide5.xml" Id="Rf669c3c62d284ca3" /><Relationship Type="http://schemas.openxmlformats.org/officeDocument/2006/relationships/slide" Target="/ppt/slides/slide6.xml" Id="R355fe85799b444a6" /><Relationship Type="http://schemas.openxmlformats.org/officeDocument/2006/relationships/slide" Target="/ppt/slides/slide7.xml" Id="R48c4b88454b94f3d" /><Relationship Type="http://schemas.openxmlformats.org/officeDocument/2006/relationships/slide" Target="/ppt/slides/slide8.xml" Id="R5abaae1c69484ec2" /><Relationship Type="http://schemas.openxmlformats.org/officeDocument/2006/relationships/slide" Target="/ppt/slides/slide9.xml" Id="Rf5f1315160254b73" /><Relationship Type="http://schemas.openxmlformats.org/officeDocument/2006/relationships/slide" Target="/ppt/slides/slide10.xml" Id="R9dafc279b04948d2" /><Relationship Type="http://schemas.openxmlformats.org/officeDocument/2006/relationships/slide" Target="/ppt/slides/slide11.xml" Id="R621754624dc84439" /><Relationship Type="http://schemas.openxmlformats.org/officeDocument/2006/relationships/slide" Target="/ppt/slides/slide12.xml" Id="R726605b8066449ee" /><Relationship Type="http://schemas.openxmlformats.org/officeDocument/2006/relationships/slide" Target="/ppt/slides/slide13.xml" Id="Re8fa6e28a4d1479e" /><Relationship Type="http://schemas.openxmlformats.org/officeDocument/2006/relationships/slide" Target="/ppt/slides/slide14.xml" Id="R45d3add0b6f44a60" /><Relationship Type="http://schemas.openxmlformats.org/officeDocument/2006/relationships/slide" Target="/ppt/slides/slide15.xml" Id="R44767e65a44b4731" /><Relationship Type="http://schemas.openxmlformats.org/officeDocument/2006/relationships/slide" Target="/ppt/slides/slide16.xml" Id="R8606d9fc9016488c" /><Relationship Type="http://schemas.openxmlformats.org/officeDocument/2006/relationships/slide" Target="/ppt/slides/slide17.xml" Id="R881bb066801d458a" /><Relationship Type="http://schemas.openxmlformats.org/officeDocument/2006/relationships/slide" Target="/ppt/slides/slide18.xml" Id="R29a7329650f14487" /><Relationship Type="http://schemas.openxmlformats.org/officeDocument/2006/relationships/slide" Target="/ppt/slides/slide19.xml" Id="R41e9dc5cc80f4186" /><Relationship Type="http://schemas.openxmlformats.org/officeDocument/2006/relationships/slide" Target="/ppt/slides/slide20.xml" Id="Rdfdc2cc716f24065" /><Relationship Type="http://schemas.openxmlformats.org/officeDocument/2006/relationships/slide" Target="/ppt/slides/slide21.xml" Id="R2f5fe05fc0354827" /><Relationship Type="http://schemas.openxmlformats.org/officeDocument/2006/relationships/slide" Target="/ppt/slides/slide22.xml" Id="R35a72eebc7634fbf" /><Relationship Type="http://schemas.openxmlformats.org/officeDocument/2006/relationships/slide" Target="/ppt/slides/slide23.xml" Id="R685ad3954e294e01" /><Relationship Type="http://schemas.openxmlformats.org/officeDocument/2006/relationships/slide" Target="/ppt/slides/slide24.xml" Id="Rd6814705aa054b02" /><Relationship Type="http://schemas.openxmlformats.org/officeDocument/2006/relationships/slide" Target="/ppt/slides/slide25.xml" Id="R67d66c0f06424dee" /><Relationship Type="http://schemas.openxmlformats.org/officeDocument/2006/relationships/slide" Target="/ppt/slides/slide26.xml" Id="Rbd7bcd82fa7143ee" /><Relationship Type="http://schemas.openxmlformats.org/officeDocument/2006/relationships/slide" Target="/ppt/slides/slide27.xml" Id="R80a8751ffb94447a" /><Relationship Type="http://schemas.openxmlformats.org/officeDocument/2006/relationships/slide" Target="/ppt/slides/slide28.xml" Id="Rc8db5101878c4cf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a83210689cd462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34b8117a7f6400f" /><Relationship Type="http://schemas.openxmlformats.org/officeDocument/2006/relationships/notesMaster" Target="/ppt/notesMasters/notesMaster1.xml" Id="Rb864f334bae74b0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75470c8d9ac493a" /><Relationship Type="http://schemas.openxmlformats.org/officeDocument/2006/relationships/notesMaster" Target="/ppt/notesMasters/notesMaster1.xml" Id="Raea23392d2e7481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0eed38f858f480c" /><Relationship Type="http://schemas.openxmlformats.org/officeDocument/2006/relationships/notesMaster" Target="/ppt/notesMasters/notesMaster1.xml" Id="Rb1b3815b65a14ce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cbe22ca4fae4264" /><Relationship Type="http://schemas.openxmlformats.org/officeDocument/2006/relationships/notesMaster" Target="/ppt/notesMasters/notesMaster1.xml" Id="Rbcf988ffdeb245d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0b195c09a2d41bf" /><Relationship Type="http://schemas.openxmlformats.org/officeDocument/2006/relationships/notesMaster" Target="/ppt/notesMasters/notesMaster1.xml" Id="Raeb67521c2934f2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f7285642e68433a" /><Relationship Type="http://schemas.openxmlformats.org/officeDocument/2006/relationships/notesMaster" Target="/ppt/notesMasters/notesMaster1.xml" Id="R0bad6c4c21be490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f0ae75d5b0d42d6" /><Relationship Type="http://schemas.openxmlformats.org/officeDocument/2006/relationships/notesMaster" Target="/ppt/notesMasters/notesMaster1.xml" Id="R12d7c43169274a8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59bcfa1d0284889" /><Relationship Type="http://schemas.openxmlformats.org/officeDocument/2006/relationships/notesMaster" Target="/ppt/notesMasters/notesMaster1.xml" Id="Re979e6eb6c69495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7a629c7fb474fc0" /><Relationship Type="http://schemas.openxmlformats.org/officeDocument/2006/relationships/notesMaster" Target="/ppt/notesMasters/notesMaster1.xml" Id="Rf1a27a9f77a740e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d0a686370724cd8" /><Relationship Type="http://schemas.openxmlformats.org/officeDocument/2006/relationships/notesMaster" Target="/ppt/notesMasters/notesMaster1.xml" Id="R0c1fba3c1eb34d1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72b5e7c98034a60" /><Relationship Type="http://schemas.openxmlformats.org/officeDocument/2006/relationships/notesMaster" Target="/ppt/notesMasters/notesMaster1.xml" Id="R85b0dba904464cf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d5c9cbc753e44d0" /><Relationship Type="http://schemas.openxmlformats.org/officeDocument/2006/relationships/notesMaster" Target="/ppt/notesMasters/notesMaster1.xml" Id="R6b5fc903d5d7470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2f69da152664d48" /><Relationship Type="http://schemas.openxmlformats.org/officeDocument/2006/relationships/notesMaster" Target="/ppt/notesMasters/notesMaster1.xml" Id="R5569fc44f5c1492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e13ef9682c84960" /><Relationship Type="http://schemas.openxmlformats.org/officeDocument/2006/relationships/notesMaster" Target="/ppt/notesMasters/notesMaster1.xml" Id="Rb563415cdb93475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79422b5c3b34bbf" /><Relationship Type="http://schemas.openxmlformats.org/officeDocument/2006/relationships/notesMaster" Target="/ppt/notesMasters/notesMaster1.xml" Id="Rd351133301e54b2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ea33039f77f44a5" /><Relationship Type="http://schemas.openxmlformats.org/officeDocument/2006/relationships/notesMaster" Target="/ppt/notesMasters/notesMaster1.xml" Id="R82dcdedb9c964ff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b6348c01f094a5b" /><Relationship Type="http://schemas.openxmlformats.org/officeDocument/2006/relationships/notesMaster" Target="/ppt/notesMasters/notesMaster1.xml" Id="R171ad16f1f9b442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8f8b74f321a4002" /><Relationship Type="http://schemas.openxmlformats.org/officeDocument/2006/relationships/notesMaster" Target="/ppt/notesMasters/notesMaster1.xml" Id="R2d123b229792447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fc115c23a53428f" /><Relationship Type="http://schemas.openxmlformats.org/officeDocument/2006/relationships/notesMaster" Target="/ppt/notesMasters/notesMaster1.xml" Id="R85ea4bb86f40401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04eeebb017b47bb" /><Relationship Type="http://schemas.openxmlformats.org/officeDocument/2006/relationships/notesMaster" Target="/ppt/notesMasters/notesMaster1.xml" Id="R2c986476131144d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c79473d88b24685" /><Relationship Type="http://schemas.openxmlformats.org/officeDocument/2006/relationships/notesMaster" Target="/ppt/notesMasters/notesMaster1.xml" Id="R48aa6a46a07f420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3e3699238bf4815" /><Relationship Type="http://schemas.openxmlformats.org/officeDocument/2006/relationships/notesMaster" Target="/ppt/notesMasters/notesMaster1.xml" Id="Rd8dc9fc38eb5442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934d6bb6efa4ace" /><Relationship Type="http://schemas.openxmlformats.org/officeDocument/2006/relationships/notesMaster" Target="/ppt/notesMasters/notesMaster1.xml" Id="R233f5cdf8e4c4e2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3ca78f5c9864a77" /><Relationship Type="http://schemas.openxmlformats.org/officeDocument/2006/relationships/notesMaster" Target="/ppt/notesMasters/notesMaster1.xml" Id="R2a58278f79dc46ce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ad7c3a7cab2a47cf" /><Relationship Type="http://schemas.openxmlformats.org/officeDocument/2006/relationships/notesMaster" Target="/ppt/notesMasters/notesMaster1.xml" Id="R190cf46b3d66473b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b36b6a2673a457a" /><Relationship Type="http://schemas.openxmlformats.org/officeDocument/2006/relationships/notesMaster" Target="/ppt/notesMasters/notesMaster1.xml" Id="Rc8160865d1ca4879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34327124758b489a" /><Relationship Type="http://schemas.openxmlformats.org/officeDocument/2006/relationships/notesMaster" Target="/ppt/notesMasters/notesMaster1.xml" Id="R66243418d3f04c93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b7419fa4276b4ff3" /><Relationship Type="http://schemas.openxmlformats.org/officeDocument/2006/relationships/notesMaster" Target="/ppt/notesMasters/notesMaster1.xml" Id="R7b4b0871eb9640e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목표: 삼국 유산에 관한 문장을 원문과 비교하고 근거와 출처를 남길 수 있어요.</a:t>
            </a:r>
          </a:p>
          <a:p xmlns:a="http://schemas.openxmlformats.org/drawingml/2006/main">
            <a:r>
              <a:t>운영: 도입 5분 · 설명과 연습 10분 · 모둠 조사 20분 · 공유 5분</a:t>
            </a:r>
          </a:p>
          <a:p xmlns:a="http://schemas.openxmlformats.org/drawingml/2006/main">
            <a:r>
              <a:t>활동지: 우리 질문, 근거와 출처, 판단 다시 하기</a:t>
            </a:r>
          </a:p>
          <a:p xmlns:a="http://schemas.openxmlformats.org/drawingml/2006/main">
            <a:r>
              <a:t>교사 안내: 학생이 근거와 출처를 말하도록 기다린 뒤 다음 화면으로 넘깁니다. 연습용 수치는 실제 학급 결과와 구분합니다.</a:t>
            </a:r>
          </a:p>
          <a:p xmlns:a="http://schemas.openxmlformats.org/drawingml/2006/main">
            <a:r>
              <a:t>자료: 저장소의 삼국시대 자료와 기존 교사용 판단 근거</a:t>
            </a:r>
          </a:p>
          <a:p xmlns:a="http://schemas.openxmlformats.org/drawingml/2006/main">
            <a:r>
              <a:t>표·그래프는 이 사이트의 내장 탐구실에서 작성합니다.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목표: 삼국 유산에 관한 문장을 원문과 비교하고 근거와 출처를 남길 수 있어요.</a:t>
            </a:r>
          </a:p>
          <a:p xmlns:a="http://schemas.openxmlformats.org/drawingml/2006/main">
            <a:r>
              <a:t>운영: 도입 5분 · 설명과 연습 10분 · 모둠 조사 20분 · 공유 5분</a:t>
            </a:r>
          </a:p>
          <a:p xmlns:a="http://schemas.openxmlformats.org/drawingml/2006/main">
            <a:r>
              <a:t>활동지: 우리 질문, 근거와 출처, 판단 다시 하기</a:t>
            </a:r>
          </a:p>
          <a:p xmlns:a="http://schemas.openxmlformats.org/drawingml/2006/main">
            <a:r>
              <a:t>교사 안내: 학생이 근거와 출처를 말하도록 기다린 뒤 다음 화면으로 넘깁니다. 연습용 수치는 실제 학급 결과와 구분합니다.</a:t>
            </a:r>
          </a:p>
          <a:p xmlns:a="http://schemas.openxmlformats.org/drawingml/2006/main">
            <a:r>
              <a:t>자료: 저장소의 삼국시대 자료와 기존 교사용 판단 근거</a:t>
            </a:r>
          </a:p>
          <a:p xmlns:a="http://schemas.openxmlformats.org/drawingml/2006/main">
            <a:r>
              <a:t>표·그래프는 이 사이트의 내장 탐구실에서 작성합니다.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목표: 삼국 유산에 관한 문장을 원문과 비교하고 근거와 출처를 남길 수 있어요.</a:t>
            </a:r>
          </a:p>
          <a:p xmlns:a="http://schemas.openxmlformats.org/drawingml/2006/main">
            <a:r>
              <a:t>운영: 도입 5분 · 설명과 연습 10분 · 모둠 조사 20분 · 공유 5분</a:t>
            </a:r>
          </a:p>
          <a:p xmlns:a="http://schemas.openxmlformats.org/drawingml/2006/main">
            <a:r>
              <a:t>활동지: 우리 질문, 근거와 출처, 판단 다시 하기</a:t>
            </a:r>
          </a:p>
          <a:p xmlns:a="http://schemas.openxmlformats.org/drawingml/2006/main">
            <a:r>
              <a:t>교사 안내: 학생이 근거와 출처를 말하도록 기다린 뒤 다음 화면으로 넘깁니다. 연습용 수치는 실제 학급 결과와 구분합니다.</a:t>
            </a:r>
          </a:p>
          <a:p xmlns:a="http://schemas.openxmlformats.org/drawingml/2006/main">
            <a:r>
              <a:t>자료: 저장소의 삼국시대 자료와 기존 교사용 판단 근거</a:t>
            </a:r>
          </a:p>
          <a:p xmlns:a="http://schemas.openxmlformats.org/drawingml/2006/main">
            <a:r>
              <a:t>표·그래프는 이 사이트의 내장 탐구실에서 작성합니다.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목표: 삼국 유산에 관한 문장을 원문과 비교하고 근거와 출처를 남길 수 있어요.</a:t>
            </a:r>
          </a:p>
          <a:p xmlns:a="http://schemas.openxmlformats.org/drawingml/2006/main">
            <a:r>
              <a:t>운영: 도입 5분 · 설명과 연습 10분 · 모둠 조사 20분 · 공유 5분</a:t>
            </a:r>
          </a:p>
          <a:p xmlns:a="http://schemas.openxmlformats.org/drawingml/2006/main">
            <a:r>
              <a:t>활동지: 우리 질문, 근거와 출처, 판단 다시 하기</a:t>
            </a:r>
          </a:p>
          <a:p xmlns:a="http://schemas.openxmlformats.org/drawingml/2006/main">
            <a:r>
              <a:t>교사 안내: 학생이 근거와 출처를 말하도록 기다린 뒤 다음 화면으로 넘깁니다. 연습용 수치는 실제 학급 결과와 구분합니다.</a:t>
            </a:r>
          </a:p>
          <a:p xmlns:a="http://schemas.openxmlformats.org/drawingml/2006/main">
            <a:r>
              <a:t>자료: 저장소의 삼국시대 자료와 기존 교사용 판단 근거</a:t>
            </a:r>
          </a:p>
          <a:p xmlns:a="http://schemas.openxmlformats.org/drawingml/2006/main">
            <a:r>
              <a:t>표·그래프는 이 사이트의 내장 탐구실에서 작성합니다.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목표: 삼국 유산에 관한 문장을 원문과 비교하고 근거와 출처를 남길 수 있어요.</a:t>
            </a:r>
          </a:p>
          <a:p xmlns:a="http://schemas.openxmlformats.org/drawingml/2006/main">
            <a:r>
              <a:t>운영: 도입 5분 · 설명과 연습 10분 · 모둠 조사 20분 · 공유 5분</a:t>
            </a:r>
          </a:p>
          <a:p xmlns:a="http://schemas.openxmlformats.org/drawingml/2006/main">
            <a:r>
              <a:t>활동지: 우리 질문, 근거와 출처, 판단 다시 하기</a:t>
            </a:r>
          </a:p>
          <a:p xmlns:a="http://schemas.openxmlformats.org/drawingml/2006/main">
            <a:r>
              <a:t>교사 안내: 학생이 근거와 출처를 말하도록 기다린 뒤 다음 화면으로 넘깁니다. 연습용 수치는 실제 학급 결과와 구분합니다.</a:t>
            </a:r>
          </a:p>
          <a:p xmlns:a="http://schemas.openxmlformats.org/drawingml/2006/main">
            <a:r>
              <a:t>자료: 저장소의 삼국시대 자료와 기존 교사용 판단 근거</a:t>
            </a:r>
          </a:p>
          <a:p xmlns:a="http://schemas.openxmlformats.org/drawingml/2006/main">
            <a:r>
              <a:t>표·그래프는 이 사이트의 내장 탐구실에서 작성합니다.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목표: 삼국 유산에 관한 문장을 원문과 비교하고 근거와 출처를 남길 수 있어요.</a:t>
            </a:r>
          </a:p>
          <a:p xmlns:a="http://schemas.openxmlformats.org/drawingml/2006/main">
            <a:r>
              <a:t>운영: 도입 5분 · 설명과 연습 10분 · 모둠 조사 20분 · 공유 5분</a:t>
            </a:r>
          </a:p>
          <a:p xmlns:a="http://schemas.openxmlformats.org/drawingml/2006/main">
            <a:r>
              <a:t>활동지: 우리 질문, 근거와 출처, 판단 다시 하기</a:t>
            </a:r>
          </a:p>
          <a:p xmlns:a="http://schemas.openxmlformats.org/drawingml/2006/main">
            <a:r>
              <a:t>교사 안내: 학생이 근거와 출처를 말하도록 기다린 뒤 다음 화면으로 넘깁니다. 연습용 수치는 실제 학급 결과와 구분합니다.</a:t>
            </a:r>
          </a:p>
          <a:p xmlns:a="http://schemas.openxmlformats.org/drawingml/2006/main">
            <a:r>
              <a:t>자료: 저장소의 삼국시대 자료와 기존 교사용 판단 근거</a:t>
            </a:r>
          </a:p>
          <a:p xmlns:a="http://schemas.openxmlformats.org/drawingml/2006/main">
            <a:r>
              <a:t>표·그래프는 이 사이트의 내장 탐구실에서 작성합니다.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목표: 삼국 유산에 관한 문장을 원문과 비교하고 근거와 출처를 남길 수 있어요.</a:t>
            </a:r>
          </a:p>
          <a:p xmlns:a="http://schemas.openxmlformats.org/drawingml/2006/main">
            <a:r>
              <a:t>운영: 도입 5분 · 설명과 연습 10분 · 모둠 조사 20분 · 공유 5분</a:t>
            </a:r>
          </a:p>
          <a:p xmlns:a="http://schemas.openxmlformats.org/drawingml/2006/main">
            <a:r>
              <a:t>활동지: 우리 질문, 근거와 출처, 판단 다시 하기</a:t>
            </a:r>
          </a:p>
          <a:p xmlns:a="http://schemas.openxmlformats.org/drawingml/2006/main">
            <a:r>
              <a:t>교사 안내: 학생이 근거와 출처를 말하도록 기다린 뒤 다음 화면으로 넘깁니다. 연습용 수치는 실제 학급 결과와 구분합니다.</a:t>
            </a:r>
          </a:p>
          <a:p xmlns:a="http://schemas.openxmlformats.org/drawingml/2006/main">
            <a:r>
              <a:t>자료: 저장소의 삼국시대 자료와 기존 교사용 판단 근거</a:t>
            </a:r>
          </a:p>
          <a:p xmlns:a="http://schemas.openxmlformats.org/drawingml/2006/main">
            <a:r>
              <a:t>표·그래프는 이 사이트의 내장 탐구실에서 작성합니다.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목표: 삼국 유산에 관한 문장을 원문과 비교하고 근거와 출처를 남길 수 있어요.</a:t>
            </a:r>
          </a:p>
          <a:p xmlns:a="http://schemas.openxmlformats.org/drawingml/2006/main">
            <a:r>
              <a:t>운영: 도입 5분 · 설명과 연습 10분 · 모둠 조사 20분 · 공유 5분</a:t>
            </a:r>
          </a:p>
          <a:p xmlns:a="http://schemas.openxmlformats.org/drawingml/2006/main">
            <a:r>
              <a:t>활동지: 우리 질문, 근거와 출처, 판단 다시 하기</a:t>
            </a:r>
          </a:p>
          <a:p xmlns:a="http://schemas.openxmlformats.org/drawingml/2006/main">
            <a:r>
              <a:t>교사 안내: 학생이 근거와 출처를 말하도록 기다린 뒤 다음 화면으로 넘깁니다. 연습용 수치는 실제 학급 결과와 구분합니다.</a:t>
            </a:r>
          </a:p>
          <a:p xmlns:a="http://schemas.openxmlformats.org/drawingml/2006/main">
            <a:r>
              <a:t>자료: 저장소의 삼국시대 자료와 기존 교사용 판단 근거</a:t>
            </a:r>
          </a:p>
          <a:p xmlns:a="http://schemas.openxmlformats.org/drawingml/2006/main">
            <a:r>
              <a:t>표·그래프는 이 사이트의 내장 탐구실에서 작성합니다.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목표: 삼국 유산에 관한 문장을 원문과 비교하고 근거와 출처를 남길 수 있어요.</a:t>
            </a:r>
          </a:p>
          <a:p xmlns:a="http://schemas.openxmlformats.org/drawingml/2006/main">
            <a:r>
              <a:t>운영: 도입 5분 · 설명과 연습 10분 · 모둠 조사 20분 · 공유 5분</a:t>
            </a:r>
          </a:p>
          <a:p xmlns:a="http://schemas.openxmlformats.org/drawingml/2006/main">
            <a:r>
              <a:t>활동지: 우리 질문, 근거와 출처, 판단 다시 하기</a:t>
            </a:r>
          </a:p>
          <a:p xmlns:a="http://schemas.openxmlformats.org/drawingml/2006/main">
            <a:r>
              <a:t>교사 안내: 학생이 근거와 출처를 말하도록 기다린 뒤 다음 화면으로 넘깁니다. 연습용 수치는 실제 학급 결과와 구분합니다.</a:t>
            </a:r>
          </a:p>
          <a:p xmlns:a="http://schemas.openxmlformats.org/drawingml/2006/main">
            <a:r>
              <a:t>자료: 저장소의 삼국시대 자료와 기존 교사용 판단 근거</a:t>
            </a:r>
          </a:p>
          <a:p xmlns:a="http://schemas.openxmlformats.org/drawingml/2006/main">
            <a:r>
              <a:t>표·그래프는 이 사이트의 내장 탐구실에서 작성합니다.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목표: 한 행에 한 가지 사실을 놓고 분류·중복·출처를 점검할 수 있어요.</a:t>
            </a:r>
          </a:p>
          <a:p xmlns:a="http://schemas.openxmlformats.org/drawingml/2006/main">
            <a:r>
              <a:t>운영: 되짚기 5분 · 표 연습 10분 · 정리와 정제 20분 · 제출 5분</a:t>
            </a:r>
          </a:p>
          <a:p xmlns:a="http://schemas.openxmlformats.org/drawingml/2006/main">
            <a:r>
              <a:t>활동지: 표로 옮기기, 정제 점검, 학급 표 준비</a:t>
            </a:r>
          </a:p>
          <a:p xmlns:a="http://schemas.openxmlformats.org/drawingml/2006/main">
            <a:r>
              <a:t>교사 안내: 학생이 근거와 출처를 말하도록 기다린 뒤 다음 화면으로 넘깁니다. 연습용 수치는 실제 학급 결과와 구분합니다.</a:t>
            </a:r>
          </a:p>
          <a:p xmlns:a="http://schemas.openxmlformats.org/drawingml/2006/main">
            <a:r>
              <a:t>자료: 저장소의 삼국시대 자료와 기존 교사용 판단 근거</a:t>
            </a:r>
          </a:p>
          <a:p xmlns:a="http://schemas.openxmlformats.org/drawingml/2006/main">
            <a:r>
              <a:t>표·그래프는 이 사이트의 내장 탐구실에서 작성합니다.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목표: 한 행에 한 가지 사실을 놓고 분류·중복·출처를 점검할 수 있어요.</a:t>
            </a:r>
          </a:p>
          <a:p xmlns:a="http://schemas.openxmlformats.org/drawingml/2006/main">
            <a:r>
              <a:t>운영: 되짚기 5분 · 표 연습 10분 · 정리와 정제 20분 · 제출 5분</a:t>
            </a:r>
          </a:p>
          <a:p xmlns:a="http://schemas.openxmlformats.org/drawingml/2006/main">
            <a:r>
              <a:t>활동지: 표로 옮기기, 정제 점검, 학급 표 준비</a:t>
            </a:r>
          </a:p>
          <a:p xmlns:a="http://schemas.openxmlformats.org/drawingml/2006/main">
            <a:r>
              <a:t>교사 안내: 학생이 근거와 출처를 말하도록 기다린 뒤 다음 화면으로 넘깁니다. 연습용 수치는 실제 학급 결과와 구분합니다.</a:t>
            </a:r>
          </a:p>
          <a:p xmlns:a="http://schemas.openxmlformats.org/drawingml/2006/main">
            <a:r>
              <a:t>자료: 저장소의 삼국시대 자료와 기존 교사용 판단 근거</a:t>
            </a:r>
          </a:p>
          <a:p xmlns:a="http://schemas.openxmlformats.org/drawingml/2006/main">
            <a:r>
              <a:t>표·그래프는 이 사이트의 내장 탐구실에서 작성합니다.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목표: 한 행에 한 가지 사실을 놓고 분류·중복·출처를 점검할 수 있어요.</a:t>
            </a:r>
          </a:p>
          <a:p xmlns:a="http://schemas.openxmlformats.org/drawingml/2006/main">
            <a:r>
              <a:t>운영: 되짚기 5분 · 표 연습 10분 · 정리와 정제 20분 · 제출 5분</a:t>
            </a:r>
          </a:p>
          <a:p xmlns:a="http://schemas.openxmlformats.org/drawingml/2006/main">
            <a:r>
              <a:t>활동지: 표로 옮기기, 정제 점검, 학급 표 준비</a:t>
            </a:r>
          </a:p>
          <a:p xmlns:a="http://schemas.openxmlformats.org/drawingml/2006/main">
            <a:r>
              <a:t>교사 안내: 학생이 근거와 출처를 말하도록 기다린 뒤 다음 화면으로 넘깁니다. 연습용 수치는 실제 학급 결과와 구분합니다.</a:t>
            </a:r>
          </a:p>
          <a:p xmlns:a="http://schemas.openxmlformats.org/drawingml/2006/main">
            <a:r>
              <a:t>자료: 저장소의 삼국시대 자료와 기존 교사용 판단 근거</a:t>
            </a:r>
          </a:p>
          <a:p xmlns:a="http://schemas.openxmlformats.org/drawingml/2006/main">
            <a:r>
              <a:t>표·그래프는 이 사이트의 내장 탐구실에서 작성합니다.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목표: 한 행에 한 가지 사실을 놓고 분류·중복·출처를 점검할 수 있어요.</a:t>
            </a:r>
          </a:p>
          <a:p xmlns:a="http://schemas.openxmlformats.org/drawingml/2006/main">
            <a:r>
              <a:t>운영: 되짚기 5분 · 표 연습 10분 · 정리와 정제 20분 · 제출 5분</a:t>
            </a:r>
          </a:p>
          <a:p xmlns:a="http://schemas.openxmlformats.org/drawingml/2006/main">
            <a:r>
              <a:t>활동지: 표로 옮기기, 정제 점검, 학급 표 준비</a:t>
            </a:r>
          </a:p>
          <a:p xmlns:a="http://schemas.openxmlformats.org/drawingml/2006/main">
            <a:r>
              <a:t>교사 안내: 학생이 근거와 출처를 말하도록 기다린 뒤 다음 화면으로 넘깁니다. 연습용 수치는 실제 학급 결과와 구분합니다.</a:t>
            </a:r>
          </a:p>
          <a:p xmlns:a="http://schemas.openxmlformats.org/drawingml/2006/main">
            <a:r>
              <a:t>자료: 저장소의 삼국시대 자료와 기존 교사용 판단 근거</a:t>
            </a:r>
          </a:p>
          <a:p xmlns:a="http://schemas.openxmlformats.org/drawingml/2006/main">
            <a:r>
              <a:t>표·그래프는 이 사이트의 내장 탐구실에서 작성합니다.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목표: 한 행에 한 가지 사실을 놓고 분류·중복·출처를 점검할 수 있어요.</a:t>
            </a:r>
          </a:p>
          <a:p xmlns:a="http://schemas.openxmlformats.org/drawingml/2006/main">
            <a:r>
              <a:t>운영: 되짚기 5분 · 표 연습 10분 · 정리와 정제 20분 · 제출 5분</a:t>
            </a:r>
          </a:p>
          <a:p xmlns:a="http://schemas.openxmlformats.org/drawingml/2006/main">
            <a:r>
              <a:t>활동지: 표로 옮기기, 정제 점검, 학급 표 준비</a:t>
            </a:r>
          </a:p>
          <a:p xmlns:a="http://schemas.openxmlformats.org/drawingml/2006/main">
            <a:r>
              <a:t>교사 안내: 학생이 근거와 출처를 말하도록 기다린 뒤 다음 화면으로 넘깁니다. 연습용 수치는 실제 학급 결과와 구분합니다.</a:t>
            </a:r>
          </a:p>
          <a:p xmlns:a="http://schemas.openxmlformats.org/drawingml/2006/main">
            <a:r>
              <a:t>자료: 저장소의 삼국시대 자료와 기존 교사용 판단 근거</a:t>
            </a:r>
          </a:p>
          <a:p xmlns:a="http://schemas.openxmlformats.org/drawingml/2006/main">
            <a:r>
              <a:t>표·그래프는 이 사이트의 내장 탐구실에서 작성합니다.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목표: 한 행에 한 가지 사실을 놓고 분류·중복·출처를 점검할 수 있어요.</a:t>
            </a:r>
          </a:p>
          <a:p xmlns:a="http://schemas.openxmlformats.org/drawingml/2006/main">
            <a:r>
              <a:t>운영: 되짚기 5분 · 표 연습 10분 · 정리와 정제 20분 · 제출 5분</a:t>
            </a:r>
          </a:p>
          <a:p xmlns:a="http://schemas.openxmlformats.org/drawingml/2006/main">
            <a:r>
              <a:t>활동지: 표로 옮기기, 정제 점검, 학급 표 준비</a:t>
            </a:r>
          </a:p>
          <a:p xmlns:a="http://schemas.openxmlformats.org/drawingml/2006/main">
            <a:r>
              <a:t>교사 안내: 학생이 근거와 출처를 말하도록 기다린 뒤 다음 화면으로 넘깁니다. 연습용 수치는 실제 학급 결과와 구분합니다.</a:t>
            </a:r>
          </a:p>
          <a:p xmlns:a="http://schemas.openxmlformats.org/drawingml/2006/main">
            <a:r>
              <a:t>자료: 저장소의 삼국시대 자료와 기존 교사용 판단 근거</a:t>
            </a:r>
          </a:p>
          <a:p xmlns:a="http://schemas.openxmlformats.org/drawingml/2006/main">
            <a:r>
              <a:t>표·그래프는 이 사이트의 내장 탐구실에서 작성합니다.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목표: 한 행에 한 가지 사실을 놓고 분류·중복·출처를 점검할 수 있어요.</a:t>
            </a:r>
          </a:p>
          <a:p xmlns:a="http://schemas.openxmlformats.org/drawingml/2006/main">
            <a:r>
              <a:t>운영: 되짚기 5분 · 표 연습 10분 · 정리와 정제 20분 · 제출 5분</a:t>
            </a:r>
          </a:p>
          <a:p xmlns:a="http://schemas.openxmlformats.org/drawingml/2006/main">
            <a:r>
              <a:t>활동지: 표로 옮기기, 정제 점검, 학급 표 준비</a:t>
            </a:r>
          </a:p>
          <a:p xmlns:a="http://schemas.openxmlformats.org/drawingml/2006/main">
            <a:r>
              <a:t>교사 안내: 학생이 근거와 출처를 말하도록 기다린 뒤 다음 화면으로 넘깁니다. 연습용 수치는 실제 학급 결과와 구분합니다.</a:t>
            </a:r>
          </a:p>
          <a:p xmlns:a="http://schemas.openxmlformats.org/drawingml/2006/main">
            <a:r>
              <a:t>자료: 저장소의 삼국시대 자료와 기존 교사용 판단 근거</a:t>
            </a:r>
          </a:p>
          <a:p xmlns:a="http://schemas.openxmlformats.org/drawingml/2006/main">
            <a:r>
              <a:t>표·그래프는 이 사이트의 내장 탐구실에서 작성합니다.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목표: 한 행에 한 가지 사실을 놓고 분류·중복·출처를 점검할 수 있어요.</a:t>
            </a:r>
          </a:p>
          <a:p xmlns:a="http://schemas.openxmlformats.org/drawingml/2006/main">
            <a:r>
              <a:t>운영: 되짚기 5분 · 표 연습 10분 · 정리와 정제 20분 · 제출 5분</a:t>
            </a:r>
          </a:p>
          <a:p xmlns:a="http://schemas.openxmlformats.org/drawingml/2006/main">
            <a:r>
              <a:t>활동지: 표로 옮기기, 정제 점검, 학급 표 준비</a:t>
            </a:r>
          </a:p>
          <a:p xmlns:a="http://schemas.openxmlformats.org/drawingml/2006/main">
            <a:r>
              <a:t>교사 안내: 학생이 근거와 출처를 말하도록 기다린 뒤 다음 화면으로 넘깁니다. 연습용 수치는 실제 학급 결과와 구분합니다.</a:t>
            </a:r>
          </a:p>
          <a:p xmlns:a="http://schemas.openxmlformats.org/drawingml/2006/main">
            <a:r>
              <a:t>자료: 저장소의 삼국시대 자료와 기존 교사용 판단 근거</a:t>
            </a:r>
          </a:p>
          <a:p xmlns:a="http://schemas.openxmlformats.org/drawingml/2006/main">
            <a:r>
              <a:t>표·그래프는 이 사이트의 내장 탐구실에서 작성합니다.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목표: 한 행에 한 가지 사실을 놓고 분류·중복·출처를 점검할 수 있어요.</a:t>
            </a:r>
          </a:p>
          <a:p xmlns:a="http://schemas.openxmlformats.org/drawingml/2006/main">
            <a:r>
              <a:t>운영: 되짚기 5분 · 표 연습 10분 · 정리와 정제 20분 · 제출 5분</a:t>
            </a:r>
          </a:p>
          <a:p xmlns:a="http://schemas.openxmlformats.org/drawingml/2006/main">
            <a:r>
              <a:t>활동지: 표로 옮기기, 정제 점검, 학급 표 준비</a:t>
            </a:r>
          </a:p>
          <a:p xmlns:a="http://schemas.openxmlformats.org/drawingml/2006/main">
            <a:r>
              <a:t>교사 안내: 학생이 근거와 출처를 말하도록 기다린 뒤 다음 화면으로 넘깁니다. 연습용 수치는 실제 학급 결과와 구분합니다.</a:t>
            </a:r>
          </a:p>
          <a:p xmlns:a="http://schemas.openxmlformats.org/drawingml/2006/main">
            <a:r>
              <a:t>자료: 저장소의 삼국시대 자료와 기존 교사용 판단 근거</a:t>
            </a:r>
          </a:p>
          <a:p xmlns:a="http://schemas.openxmlformats.org/drawingml/2006/main">
            <a:r>
              <a:t>표·그래프는 이 사이트의 내장 탐구실에서 작성합니다.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목표: 여섯 모둠의 근거 표를 합쳐 이야기종류별 문장 수와 한계를 설명할 수 있어요.</a:t>
            </a:r>
          </a:p>
          <a:p xmlns:a="http://schemas.openxmlformats.org/drawingml/2006/main">
            <a:r>
              <a:t>운영: 개념 8분 · 통합과 그래프 22분 · 해석과 저장 10분</a:t>
            </a:r>
          </a:p>
          <a:p xmlns:a="http://schemas.openxmlformats.org/drawingml/2006/main">
            <a:r>
              <a:t>활동지: 개수 확인, 그래프 읽기, 한계와 저장</a:t>
            </a:r>
          </a:p>
          <a:p xmlns:a="http://schemas.openxmlformats.org/drawingml/2006/main">
            <a:r>
              <a:t>교사 안내: 학생이 근거와 출처를 말하도록 기다린 뒤 다음 화면으로 넘깁니다. 연습용 수치는 실제 학급 결과와 구분합니다.</a:t>
            </a:r>
          </a:p>
          <a:p xmlns:a="http://schemas.openxmlformats.org/drawingml/2006/main">
            <a:r>
              <a:t>자료: 저장소의 삼국시대 자료와 기존 교사용 판단 근거</a:t>
            </a:r>
          </a:p>
          <a:p xmlns:a="http://schemas.openxmlformats.org/drawingml/2006/main">
            <a:r>
              <a:t>표·그래프는 이 사이트의 내장 탐구실에서 작성합니다.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목표: 여섯 모둠의 근거 표를 합쳐 이야기종류별 문장 수와 한계를 설명할 수 있어요.</a:t>
            </a:r>
          </a:p>
          <a:p xmlns:a="http://schemas.openxmlformats.org/drawingml/2006/main">
            <a:r>
              <a:t>운영: 개념 8분 · 통합과 그래프 22분 · 해석과 저장 10분</a:t>
            </a:r>
          </a:p>
          <a:p xmlns:a="http://schemas.openxmlformats.org/drawingml/2006/main">
            <a:r>
              <a:t>활동지: 개수 확인, 그래프 읽기, 한계와 저장</a:t>
            </a:r>
          </a:p>
          <a:p xmlns:a="http://schemas.openxmlformats.org/drawingml/2006/main">
            <a:r>
              <a:t>교사 안내: 학생이 근거와 출처를 말하도록 기다린 뒤 다음 화면으로 넘깁니다. 연습용 수치는 실제 학급 결과와 구분합니다.</a:t>
            </a:r>
          </a:p>
          <a:p xmlns:a="http://schemas.openxmlformats.org/drawingml/2006/main">
            <a:r>
              <a:t>자료: 저장소의 삼국시대 자료와 기존 교사용 판단 근거</a:t>
            </a:r>
          </a:p>
          <a:p xmlns:a="http://schemas.openxmlformats.org/drawingml/2006/main">
            <a:r>
              <a:t>표·그래프는 이 사이트의 내장 탐구실에서 작성합니다.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목표: 여섯 모둠의 근거 표를 합쳐 이야기종류별 문장 수와 한계를 설명할 수 있어요.</a:t>
            </a:r>
          </a:p>
          <a:p xmlns:a="http://schemas.openxmlformats.org/drawingml/2006/main">
            <a:r>
              <a:t>운영: 개념 8분 · 통합과 그래프 22분 · 해석과 저장 10분</a:t>
            </a:r>
          </a:p>
          <a:p xmlns:a="http://schemas.openxmlformats.org/drawingml/2006/main">
            <a:r>
              <a:t>활동지: 개수 확인, 그래프 읽기, 한계와 저장</a:t>
            </a:r>
          </a:p>
          <a:p xmlns:a="http://schemas.openxmlformats.org/drawingml/2006/main">
            <a:r>
              <a:t>교사 안내: 학생이 근거와 출처를 말하도록 기다린 뒤 다음 화면으로 넘깁니다. 연습용 수치는 실제 학급 결과와 구분합니다.</a:t>
            </a:r>
          </a:p>
          <a:p xmlns:a="http://schemas.openxmlformats.org/drawingml/2006/main">
            <a:r>
              <a:t>자료: 저장소의 삼국시대 자료와 기존 교사용 판단 근거</a:t>
            </a:r>
          </a:p>
          <a:p xmlns:a="http://schemas.openxmlformats.org/drawingml/2006/main">
            <a:r>
              <a:t>표·그래프는 이 사이트의 내장 탐구실에서 작성합니다.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목표: 여섯 모둠의 근거 표를 합쳐 이야기종류별 문장 수와 한계를 설명할 수 있어요.</a:t>
            </a:r>
          </a:p>
          <a:p xmlns:a="http://schemas.openxmlformats.org/drawingml/2006/main">
            <a:r>
              <a:t>운영: 개념 8분 · 통합과 그래프 22분 · 해석과 저장 10분</a:t>
            </a:r>
          </a:p>
          <a:p xmlns:a="http://schemas.openxmlformats.org/drawingml/2006/main">
            <a:r>
              <a:t>활동지: 개수 확인, 그래프 읽기, 한계와 저장</a:t>
            </a:r>
          </a:p>
          <a:p xmlns:a="http://schemas.openxmlformats.org/drawingml/2006/main">
            <a:r>
              <a:t>교사 안내: 학생이 근거와 출처를 말하도록 기다린 뒤 다음 화면으로 넘깁니다. 연습용 수치는 실제 학급 결과와 구분합니다.</a:t>
            </a:r>
          </a:p>
          <a:p xmlns:a="http://schemas.openxmlformats.org/drawingml/2006/main">
            <a:r>
              <a:t>자료: 저장소의 삼국시대 자료와 기존 교사용 판단 근거</a:t>
            </a:r>
          </a:p>
          <a:p xmlns:a="http://schemas.openxmlformats.org/drawingml/2006/main">
            <a:r>
              <a:t>표·그래프는 이 사이트의 내장 탐구실에서 작성합니다.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목표: 여섯 모둠의 근거 표를 합쳐 이야기종류별 문장 수와 한계를 설명할 수 있어요.</a:t>
            </a:r>
          </a:p>
          <a:p xmlns:a="http://schemas.openxmlformats.org/drawingml/2006/main">
            <a:r>
              <a:t>운영: 개념 8분 · 통합과 그래프 22분 · 해석과 저장 10분</a:t>
            </a:r>
          </a:p>
          <a:p xmlns:a="http://schemas.openxmlformats.org/drawingml/2006/main">
            <a:r>
              <a:t>활동지: 개수 확인, 그래프 읽기, 한계와 저장</a:t>
            </a:r>
          </a:p>
          <a:p xmlns:a="http://schemas.openxmlformats.org/drawingml/2006/main">
            <a:r>
              <a:t>교사 안내: 학생이 근거와 출처를 말하도록 기다린 뒤 다음 화면으로 넘깁니다. 연습용 수치는 실제 학급 결과와 구분합니다.</a:t>
            </a:r>
          </a:p>
          <a:p xmlns:a="http://schemas.openxmlformats.org/drawingml/2006/main">
            <a:r>
              <a:t>자료: 저장소의 삼국시대 자료와 기존 교사용 판단 근거</a:t>
            </a:r>
          </a:p>
          <a:p xmlns:a="http://schemas.openxmlformats.org/drawingml/2006/main">
            <a:r>
              <a:t>표·그래프는 이 사이트의 내장 탐구실에서 작성합니다.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목표: 여섯 모둠의 근거 표를 합쳐 이야기종류별 문장 수와 한계를 설명할 수 있어요.</a:t>
            </a:r>
          </a:p>
          <a:p xmlns:a="http://schemas.openxmlformats.org/drawingml/2006/main">
            <a:r>
              <a:t>운영: 개념 8분 · 통합과 그래프 22분 · 해석과 저장 10분</a:t>
            </a:r>
          </a:p>
          <a:p xmlns:a="http://schemas.openxmlformats.org/drawingml/2006/main">
            <a:r>
              <a:t>활동지: 개수 확인, 그래프 읽기, 한계와 저장</a:t>
            </a:r>
          </a:p>
          <a:p xmlns:a="http://schemas.openxmlformats.org/drawingml/2006/main">
            <a:r>
              <a:t>교사 안내: 학생이 근거와 출처를 말하도록 기다린 뒤 다음 화면으로 넘깁니다. 연습용 수치는 실제 학급 결과와 구분합니다.</a:t>
            </a:r>
          </a:p>
          <a:p xmlns:a="http://schemas.openxmlformats.org/drawingml/2006/main">
            <a:r>
              <a:t>자료: 저장소의 삼국시대 자료와 기존 교사용 판단 근거</a:t>
            </a:r>
          </a:p>
          <a:p xmlns:a="http://schemas.openxmlformats.org/drawingml/2006/main">
            <a:r>
              <a:t>표·그래프는 이 사이트의 내장 탐구실에서 작성합니다.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목표: 여섯 모둠의 근거 표를 합쳐 이야기종류별 문장 수와 한계를 설명할 수 있어요.</a:t>
            </a:r>
          </a:p>
          <a:p xmlns:a="http://schemas.openxmlformats.org/drawingml/2006/main">
            <a:r>
              <a:t>운영: 개념 8분 · 통합과 그래프 22분 · 해석과 저장 10분</a:t>
            </a:r>
          </a:p>
          <a:p xmlns:a="http://schemas.openxmlformats.org/drawingml/2006/main">
            <a:r>
              <a:t>활동지: 개수 확인, 그래프 읽기, 한계와 저장</a:t>
            </a:r>
          </a:p>
          <a:p xmlns:a="http://schemas.openxmlformats.org/drawingml/2006/main">
            <a:r>
              <a:t>교사 안내: 학생이 근거와 출처를 말하도록 기다린 뒤 다음 화면으로 넘깁니다. 연습용 수치는 실제 학급 결과와 구분합니다.</a:t>
            </a:r>
          </a:p>
          <a:p xmlns:a="http://schemas.openxmlformats.org/drawingml/2006/main">
            <a:r>
              <a:t>자료: 저장소의 삼국시대 자료와 기존 교사용 판단 근거</a:t>
            </a:r>
          </a:p>
          <a:p xmlns:a="http://schemas.openxmlformats.org/drawingml/2006/main">
            <a:r>
              <a:t>표·그래프는 이 사이트의 내장 탐구실에서 작성합니다.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목표: 여섯 모둠의 근거 표를 합쳐 이야기종류별 문장 수와 한계를 설명할 수 있어요.</a:t>
            </a:r>
          </a:p>
          <a:p xmlns:a="http://schemas.openxmlformats.org/drawingml/2006/main">
            <a:r>
              <a:t>운영: 개념 8분 · 통합과 그래프 22분 · 해석과 저장 10분</a:t>
            </a:r>
          </a:p>
          <a:p xmlns:a="http://schemas.openxmlformats.org/drawingml/2006/main">
            <a:r>
              <a:t>활동지: 개수 확인, 그래프 읽기, 한계와 저장</a:t>
            </a:r>
          </a:p>
          <a:p xmlns:a="http://schemas.openxmlformats.org/drawingml/2006/main">
            <a:r>
              <a:t>교사 안내: 학생이 근거와 출처를 말하도록 기다린 뒤 다음 화면으로 넘깁니다. 연습용 수치는 실제 학급 결과와 구분합니다.</a:t>
            </a:r>
          </a:p>
          <a:p xmlns:a="http://schemas.openxmlformats.org/drawingml/2006/main">
            <a:r>
              <a:t>자료: 저장소의 삼국시대 자료와 기존 교사용 판단 근거</a:t>
            </a:r>
          </a:p>
          <a:p xmlns:a="http://schemas.openxmlformats.org/drawingml/2006/main">
            <a:r>
              <a:t>표·그래프는 이 사이트의 내장 탐구실에서 작성합니다.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목표: 여섯 모둠의 근거 표를 합쳐 이야기종류별 문장 수와 한계를 설명할 수 있어요.</a:t>
            </a:r>
          </a:p>
          <a:p xmlns:a="http://schemas.openxmlformats.org/drawingml/2006/main">
            <a:r>
              <a:t>운영: 개념 8분 · 통합과 그래프 22분 · 해석과 저장 10분</a:t>
            </a:r>
          </a:p>
          <a:p xmlns:a="http://schemas.openxmlformats.org/drawingml/2006/main">
            <a:r>
              <a:t>활동지: 개수 확인, 그래프 읽기, 한계와 저장</a:t>
            </a:r>
          </a:p>
          <a:p xmlns:a="http://schemas.openxmlformats.org/drawingml/2006/main">
            <a:r>
              <a:t>교사 안내: 학생이 근거와 출처를 말하도록 기다린 뒤 다음 화면으로 넘깁니다. 연습용 수치는 실제 학급 결과와 구분합니다.</a:t>
            </a:r>
          </a:p>
          <a:p xmlns:a="http://schemas.openxmlformats.org/drawingml/2006/main">
            <a:r>
              <a:t>자료: 저장소의 삼국시대 자료와 기존 교사용 판단 근거</a:t>
            </a:r>
          </a:p>
          <a:p xmlns:a="http://schemas.openxmlformats.org/drawingml/2006/main">
            <a:r>
              <a:t>표·그래프는 이 사이트의 내장 탐구실에서 작성합니다.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목표: 여섯 모둠의 근거 표를 합쳐 이야기종류별 문장 수와 한계를 설명할 수 있어요.</a:t>
            </a:r>
          </a:p>
          <a:p xmlns:a="http://schemas.openxmlformats.org/drawingml/2006/main">
            <a:r>
              <a:t>운영: 개념 8분 · 통합과 그래프 22분 · 해석과 저장 10분</a:t>
            </a:r>
          </a:p>
          <a:p xmlns:a="http://schemas.openxmlformats.org/drawingml/2006/main">
            <a:r>
              <a:t>활동지: 개수 확인, 그래프 읽기, 한계와 저장</a:t>
            </a:r>
          </a:p>
          <a:p xmlns:a="http://schemas.openxmlformats.org/drawingml/2006/main">
            <a:r>
              <a:t>교사 안내: 학생이 근거와 출처를 말하도록 기다린 뒤 다음 화면으로 넘깁니다. 연습용 수치는 실제 학급 결과와 구분합니다.</a:t>
            </a:r>
          </a:p>
          <a:p xmlns:a="http://schemas.openxmlformats.org/drawingml/2006/main">
            <a:r>
              <a:t>자료: 저장소의 삼국시대 자료와 기존 교사용 판단 근거</a:t>
            </a:r>
          </a:p>
          <a:p xmlns:a="http://schemas.openxmlformats.org/drawingml/2006/main">
            <a:r>
              <a:t>표·그래프는 이 사이트의 내장 탐구실에서 작성합니다.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2f8d44bec644e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858b21d1f04ff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9c6201b09d42f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99cc60d3ec44c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f277fa5a624f5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ae8c43fec841a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F52EFEE-2AE7-42FD-ACBE-9E41803891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40C4FE8-40A5-4B55-A36E-284B173022B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FC237B6-8C49-474E-97C9-EF12D5E73C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5AF6173-5C80-4A47-8DF0-61B4C71C3A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7DDE1F2-86D3-43C0-8352-8C8A6EBAB03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F5147D4-0828-4E60-95A1-52C9EFE293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9AA48F4-AF78-4A1D-916A-FB51005A2A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7D14D06-CB75-40B8-B868-719DC72D3A4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AE8835E-0426-4EFE-A271-6911A896EF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C5D9D70-1C3C-489D-948E-179A1189CB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7f61f481c024ba9" /><Relationship Type="http://schemas.openxmlformats.org/officeDocument/2006/relationships/slideLayout" Target="/ppt/slideLayouts/slideLayout1.xml" Id="Ra8dc3912707a4af7" /><Relationship Type="http://schemas.openxmlformats.org/officeDocument/2006/relationships/slideLayout" Target="/ppt/slideLayouts/slideLayout2.xml" Id="Re2c6f434d238492e" /><Relationship Type="http://schemas.openxmlformats.org/officeDocument/2006/relationships/slideLayout" Target="/ppt/slideLayouts/slideLayout3.xml" Id="Rac36f6d6ee804056" /><Relationship Type="http://schemas.openxmlformats.org/officeDocument/2006/relationships/slideLayout" Target="/ppt/slideLayouts/slideLayout4.xml" Id="R3aceda4dc1574a93" /><Relationship Type="http://schemas.openxmlformats.org/officeDocument/2006/relationships/slideLayout" Target="/ppt/slideLayouts/slideLayout5.xml" Id="Rac407ea5071b4fe3" /><Relationship Type="http://schemas.openxmlformats.org/officeDocument/2006/relationships/slideLayout" Target="/ppt/slideLayouts/slideLayout6.xml" Id="R0ab3ed3667cd452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8dc3912707a4af7"/>
    <p:sldLayoutId xmlns:r="http://schemas.openxmlformats.org/officeDocument/2006/relationships" id="2147483650" r:id="Re2c6f434d238492e"/>
    <p:sldLayoutId xmlns:r="http://schemas.openxmlformats.org/officeDocument/2006/relationships" id="2147483651" r:id="Rac36f6d6ee804056"/>
    <p:sldLayoutId xmlns:r="http://schemas.openxmlformats.org/officeDocument/2006/relationships" id="2147483652" r:id="R3aceda4dc1574a93"/>
    <p:sldLayoutId xmlns:r="http://schemas.openxmlformats.org/officeDocument/2006/relationships" id="2147483653" r:id="Rac407ea5071b4fe3"/>
    <p:sldLayoutId xmlns:r="http://schemas.openxmlformats.org/officeDocument/2006/relationships" id="2147483654" r:id="R0ab3ed3667cd452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67b9c9aadf48d3" /><Relationship Type="http://schemas.openxmlformats.org/officeDocument/2006/relationships/notesSlide" Target="/ppt/notesSlides/notesSlide1.xml" Id="R64bbd4d84a814bf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ebaee822884498" /><Relationship Type="http://schemas.openxmlformats.org/officeDocument/2006/relationships/notesSlide" Target="/ppt/notesSlides/notesSlide2.xml" Id="Rd64362f4f87e427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56ec49f94144c4" /><Relationship Type="http://schemas.openxmlformats.org/officeDocument/2006/relationships/notesSlide" Target="/ppt/notesSlides/notesSlide3.xml" Id="R9cb272e7db204ca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a57a0339294eed" /><Relationship Type="http://schemas.openxmlformats.org/officeDocument/2006/relationships/notesSlide" Target="/ppt/notesSlides/notesSlide4.xml" Id="R83febcb54ed3464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e5f04f27d74f8a" /><Relationship Type="http://schemas.openxmlformats.org/officeDocument/2006/relationships/notesSlide" Target="/ppt/notesSlides/notesSlide5.xml" Id="R634101979dce481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729d1c88ee4464" /><Relationship Type="http://schemas.openxmlformats.org/officeDocument/2006/relationships/notesSlide" Target="/ppt/notesSlides/notesSlide6.xml" Id="Rf4f3e68ce33141f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b33fbea50a4b36" /><Relationship Type="http://schemas.openxmlformats.org/officeDocument/2006/relationships/notesSlide" Target="/ppt/notesSlides/notesSlide7.xml" Id="R3e78e0cc93a74b2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801ceb0ed64181" /><Relationship Type="http://schemas.openxmlformats.org/officeDocument/2006/relationships/notesSlide" Target="/ppt/notesSlides/notesSlide8.xml" Id="Ree5591ddc31b472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4d969131ce4a9b" /><Relationship Type="http://schemas.openxmlformats.org/officeDocument/2006/relationships/notesSlide" Target="/ppt/notesSlides/notesSlide9.xml" Id="R08b86d944ae9434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442d74c6764e97" /><Relationship Type="http://schemas.openxmlformats.org/officeDocument/2006/relationships/notesSlide" Target="/ppt/notesSlides/notesSlide10.xml" Id="R8fdd30ae6ce546d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ce63c0e7fa46ac" /><Relationship Type="http://schemas.openxmlformats.org/officeDocument/2006/relationships/notesSlide" Target="/ppt/notesSlides/notesSlide11.xml" Id="R209c736ff71d41b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da976919094e1a" /><Relationship Type="http://schemas.openxmlformats.org/officeDocument/2006/relationships/notesSlide" Target="/ppt/notesSlides/notesSlide12.xml" Id="Rb74fed5212f941c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5195552a6b4f45" /><Relationship Type="http://schemas.openxmlformats.org/officeDocument/2006/relationships/notesSlide" Target="/ppt/notesSlides/notesSlide13.xml" Id="R526e387bc13c431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fd4595d7d2477b" /><Relationship Type="http://schemas.openxmlformats.org/officeDocument/2006/relationships/notesSlide" Target="/ppt/notesSlides/notesSlide14.xml" Id="R2876591ea89549f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8ff3ecfcee40e3" /><Relationship Type="http://schemas.openxmlformats.org/officeDocument/2006/relationships/notesSlide" Target="/ppt/notesSlides/notesSlide15.xml" Id="R7de264870a7e488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df0619b95849ca" /><Relationship Type="http://schemas.openxmlformats.org/officeDocument/2006/relationships/notesSlide" Target="/ppt/notesSlides/notesSlide16.xml" Id="Rc0ed2ac361c5427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cca14c38b7463a" /><Relationship Type="http://schemas.openxmlformats.org/officeDocument/2006/relationships/notesSlide" Target="/ppt/notesSlides/notesSlide17.xml" Id="R64971ee6978247a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7090f9b8d948ad" /><Relationship Type="http://schemas.openxmlformats.org/officeDocument/2006/relationships/notesSlide" Target="/ppt/notesSlides/notesSlide18.xml" Id="Re4aac7f5c16743a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d045b5b7a343c5" /><Relationship Type="http://schemas.openxmlformats.org/officeDocument/2006/relationships/notesSlide" Target="/ppt/notesSlides/notesSlide19.xml" Id="R4377d834e66a409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df254d3ce54950" /><Relationship Type="http://schemas.openxmlformats.org/officeDocument/2006/relationships/notesSlide" Target="/ppt/notesSlides/notesSlide20.xml" Id="R5752e396dd5e472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b687af6bea4814" /><Relationship Type="http://schemas.openxmlformats.org/officeDocument/2006/relationships/notesSlide" Target="/ppt/notesSlides/notesSlide21.xml" Id="R9d0195c359f44c7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b4cd95dd154b50" /><Relationship Type="http://schemas.openxmlformats.org/officeDocument/2006/relationships/notesSlide" Target="/ppt/notesSlides/notesSlide22.xml" Id="Rf5a5d9aef61d48e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fbe3a78cac4dd7" /><Relationship Type="http://schemas.openxmlformats.org/officeDocument/2006/relationships/notesSlide" Target="/ppt/notesSlides/notesSlide23.xml" Id="R6ceec8b61415445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8eff074ffc40fe" /><Relationship Type="http://schemas.openxmlformats.org/officeDocument/2006/relationships/notesSlide" Target="/ppt/notesSlides/notesSlide24.xml" Id="Re9c92bde763e4c2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f89612b43f495d" /><Relationship Type="http://schemas.openxmlformats.org/officeDocument/2006/relationships/notesSlide" Target="/ppt/notesSlides/notesSlide25.xml" Id="Rf4266f1a4bc74932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5179c3606340f9" /><Relationship Type="http://schemas.openxmlformats.org/officeDocument/2006/relationships/notesSlide" Target="/ppt/notesSlides/notesSlide26.xml" Id="Rebec4d97c3074e7c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942a72949949ae" /><Relationship Type="http://schemas.openxmlformats.org/officeDocument/2006/relationships/notesSlide" Target="/ppt/notesSlides/notesSlide27.xml" Id="Re265c7c835084571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da995eb90b4b00" /><Relationship Type="http://schemas.openxmlformats.org/officeDocument/2006/relationships/notesSlide" Target="/ppt/notesSlides/notesSlide28.xml" Id="R1f9fa95902cb48d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31C754-D4A6-429E-9224-59637A55F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rPr>
              <a:t>삼국 유산 탐구 · 1차시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C12857-5B69-406D-A244-53BD74481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AI의 답을 자료로 확인하기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DB3D16-0F57-4B70-BCC6-E177B711C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삼국 유산에 관한 문장을 원문과 비교하고 근거와 출처를 남길 수 있어요.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787D82-80FE-487E-8113-BCF67F29C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도입 5분 · 설명과 연습 10분 · 모둠 조사 20분 · 공유 5분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48A311-6B38-4DB4-B488-7FC1A0C4B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9730763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995683-3A26-4DAA-943A-5572E2D91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rPr>
              <a:t>삼국 유산 탐구 · 1차시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62D000-C6CC-444D-B695-2725658C2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우리 반이 조사할 삼국 유산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22409F-A6CD-4176-9395-B9D8D9960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무령왕릉, 금동대향로, 첨성대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008320-F9D9-4194-B287-86F19A65E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신라 금관, 고구려 고분벽화, 가야 고분군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2246B1-5D92-451A-97E4-D82F7BED0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모둠마다 한 대상을 골라 같은 자료를 6차시까지 이어 써요.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A5C5C9-59EC-42BB-BA43-379EAB077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731494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C7A351-9BE0-4B3E-ABC0-C2BB37909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rPr>
              <a:t>삼국 유산 탐구 · 1차시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768FE0-DB44-43A3-B562-F1E063C61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글과 사진도 데이터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B275B0-3759-414F-9D13-48CFB3541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데이터는 관찰하거나 기록한 자료예요.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E0C69D-3885-449D-AE37-00C08A084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이번 수업에서 세는 단위는 유산 개수가 아니라 확인한 문장 하나예요.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92961F-B33A-430F-BF55-F4F8C005D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사진에서 본 모양과 자료를 읽고 안 사실을 나누어 말해요.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DE4F4D-5087-4E22-8F7C-77E3A2D8D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286807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70FE9F-3259-4F27-A9BA-18EFA2AC7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rPr>
              <a:t>삼국 유산 탐구 · 1차시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85FE23-42B5-4461-97C3-D7A4C0670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AI 답변을 확인하는 까닭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D3C7BF-5D4E-4101-960E-79CD462F6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AI가 자연스럽게 설명해도 내용과 출처가 틀릴 수 있어요.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C0DCAE-B798-4182-91B9-E29F5CBA1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긴 답변을 한 가지 주장씩 나누고, 각 주장에 맞는 자료를 찾아요.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DCF1EB-0759-48D5-9183-3D82D48B0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AI가 알려 준 링크도 실제로 열어 같은 내용이 있는지 읽어요.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385525-8195-4BEC-B761-71653B385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4578705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6AA77A-0073-4FF8-B036-6745548D2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rPr>
              <a:t>삼국 유산 탐구 · 1차시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02B97C-3EB9-47A3-8AE2-D11FD6E92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함께 확인할 연습 문장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630BAE-B942-4B29-BD94-09609D871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연습용 문장: “무령왕릉은 1972년에 발견되었다.”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9B29A4-355E-4AD1-8388-FE94C6B4E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공식 자료에는 1971년 발견으로 설명되어 있어요.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C1C390-C885-4303-AEA0-D75F343BF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어느 부분을 고치고, 어떤 출처를 남겨야 할까요?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E8AD28-B704-44F5-BB4A-67C93B65D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3905576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EED36B-B892-4D37-A722-5D7E7D3CF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rPr>
              <a:t>삼국 유산 탐구 · 1차시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BDD8CF-C11B-4B22-B524-EF518EAEB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판단에는 근거가 필요해요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0B9A15-D237-4056-9DF2-B0628B86A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자료와 같음: 같은 내용을 찾은 위치를 남겨요.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4E03F1-C0ED-43DA-A80F-2F76994EE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자료와 다름: 틀린 부분을 고치고 원문을 남겨요.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48C6C5-3BD4-4390-871D-6BB27E88F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근거 부족: 아직 확인하지 못했다고 표시해요.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404901-069B-4DC2-9FEF-36F55F485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04668743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CE339E-47E7-419F-AC86-0222835F8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rPr>
              <a:t>삼국 유산 탐구 · 1차시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800DD0-54B2-4A51-83F0-383F6CB42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친구가 다시 찾을 수 있는 출처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52CD9A-FEF8-4FD5-9697-23352676B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기관 이름과 자료 제목을 적어요.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7152C3-EEF2-488C-B45F-852495132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책은 쪽수, 웹 자료는 정확한 주소와 읽은 위치를 적어요.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8ED848-FAE3-441F-AE21-CA2A06FFA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같은 원문의 두 부분은 서로 다른 출처 두 개가 아니에요.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5F1C9F-637F-4210-85C0-60141DF45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90227380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03D0DA-5133-49B4-8FDA-32FC9C308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rPr>
              <a:t>삼국 유산 탐구 · 1차시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729D31-A9E1-4299-BB30-DB666CADB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모둠 조사 20분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5B5AED-F9E4-4381-B2AE-8C4D3E55F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질문을 정하고 원문을 읽는 사람, 기록하는 사람을 나누어요.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D96F51-791F-44A9-9082-55C1E4A89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한 문장에 한 사실을 쓰고 원문과 뜻이 같은지 확인해요.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AE63DF-C2EC-4B13-8205-D644C4EBF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자료에 없는 내용을 빈칸을 채우려고 만들어 넣지 않아요.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53A495-4C79-4BF3-A795-8C612ED03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11814977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BAF830-AA95-4A0A-A307-3E1C72BF3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rPr>
              <a:t>삼국 유산 탐구 · 1차시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504FD2-A29D-480F-9215-525B7B9F8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오늘 확인할 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6EA599-89E7-427D-80E3-1446E511B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친구가 내 출처를 보고 같은 문장을 찾을 수 있나요?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93213A-4647-4983-9739-7C270DFE8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제작 시기와 발견 시기를 서로 섞지는 않았나요?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70E237-5077-4752-9CE0-FED236ABF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다음 시간에는 이 문장과 출처를 그대로 가져와요.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2EB575-C736-4EBD-840C-8B2A5FC42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33098379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0FABCB-9F88-4DF8-8FA6-609537704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rPr>
              <a:t>삼국 유산 탐구 · 2차시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617FAC-5E49-453D-AD70-175E7D206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문장을 표로 정리하고 정제하기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35FA41-A13F-4DE3-A516-81D62EFFC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한 행에 한 가지 사실을 놓고 분류·중복·출처를 점검할 수 있어요.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D1A172-495E-40AD-B1BA-BE58C0F60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되짚기 5분 · 표 연습 10분 · 정리와 정제 20분 · 제출 5분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68EE8E-4752-46A8-A637-0D9D1A335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5156015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D8FE95-87E7-4F86-B69F-7164E49B9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rPr>
              <a:t>삼국 유산 탐구 · 2차시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646354-294E-4259-AF58-A286ABF16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지난 시간 자료부터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FCC4C2-6029-4DFE-B598-D811C44AE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1차시의 근거 문장과 출처 목록을 펼쳐요.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E701CD-91B8-42A7-8CD9-90079E92A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확인한 문장과 판단을 보류한 문장을 구분해요.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D8C1F4-968C-4DBB-8612-F5E606C35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확인한 문장만 이번 학급 집계에 넣어요.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FAF68A-77A1-4C52-891F-676B6AA5A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03549827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42B0A2-C38D-42A1-83A6-B8B8FD3FA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rPr>
              <a:t>삼국 유산 탐구 · 2차시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1CCF35-E244-4A4A-8D0F-D4507D033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행과 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A09D49-D790-49CA-9AB9-7F70DFFCF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한 행에는 서로 다른 사실 하나가 들어가요.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55D7A0-A774-433A-AAFF-59A6602B5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열은 모둠, 유산, 이야기종류, 핵심내용, 출처번호로 맞춰요.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42A4D1-FD46-4A08-B030-430429642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출처번호는 2-1처럼 모둠 번호와 순서를 함께 써요.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BACFBC-827F-4B5D-8EDD-D22FD3372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76551958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FAA900-0E6F-4E10-8D79-92D2C08BB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rPr>
              <a:t>삼국 유산 탐구 · 2차시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116D1A-B4C9-47F9-939F-4EEC300DD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한 문장을 나누는 연습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C196DC-81D3-4C62-BEDE-E4B798935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“무령왕릉은 벽돌을 쌓아 만들었고 1971년에 발견되었다.”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208FD0-F11C-4254-A3A2-68116C756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만든 재료와 발견 시기는 서로 다른 사실이에요.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538E08-CB2A-4EF7-99D8-CD6D446CA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두 행으로 나누고 각각 맞는 출처를 연결해요.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62BBB7-CAF6-4E81-BA6D-F57200494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01365282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68AF5E-05A9-408A-BCA7-6D966C5EF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rPr>
              <a:t>삼국 유산 탐구 · 2차시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34DCAC-7739-44E5-8FF5-3979DE98E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분류 이름은 함께 정해요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0515F1-BBC0-4BD4-914D-F06D423B5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언제·어디: 시기나 장소를 설명해요.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D4D0D3-D0F6-408F-8C2F-0A3ECE0FB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재료·방법, 생김새, 쓰임·생활도 같은 이름으로 사용해요.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3DC42E-5F4F-435A-8377-309DDBC26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한 행의 중심 내용에 맞는 종류 하나를 고르고 이유를 말해요.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014115-60CE-4817-81E5-DF802D6C2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500150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4760D8-8320-4871-911C-E54B7418C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rPr>
              <a:t>삼국 유산 탐구 · 2차시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0A57EE-D7E6-4B8A-B720-0668E16AD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중복을 찾는 연습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E30231-8839-4F61-86A8-D21826B57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“무령왕릉은 벽돌을 쌓아 만들었다.”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E83D10-6311-42DB-AD3F-C43FC799C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“무령왕릉을 만드는 데 벽돌을 사용했다.”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17755C-8A73-4BAC-81BB-20EAE421A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말이 달라도 같은 사실이므로 한 행으로 합쳐요.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CECD5E-63B8-454B-A7EC-42785C993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73714655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B8BAAF-6A4B-4CB1-9C68-23814A10A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rPr>
              <a:t>삼국 유산 탐구 · 2차시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A3D34A-BBCC-4928-B88A-5E09E8248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빈칸을 다루는 방법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B6A72B-3F82-4139-A522-641CD6FC8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출처가 없으면 원문을 다시 찾아요.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258DFD-2949-4542-9852-083FB297B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끝내 확인하지 못하면 보류 목록에 두고 집계에서 빼요.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8C73B4-1273-4883-AED8-C931F64A7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생각나는 값을 임의로 넣어 완성하지 않아요.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025C2E-884E-486B-851F-F0EAF47EC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38133130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591FE3-F12C-4808-8EE5-EF8BB7A2C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rPr>
              <a:t>삼국 유산 탐구 · 2차시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435F83-95E9-4402-8BC7-42F38D87C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모둠 표 점검 20분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8395C4-A2CC-4BB3-8F61-488D81B74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모든 행을 읽고 한 사실인지 확인해요.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EA04D4-9B13-46C4-B522-FC2C71D83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같은 사실과 분류 이름을 맞추고 출처번호를 검사해요.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983634-3145-4D0C-A988-2409940E2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최종 표와 출처 목록을 선생님께 함께 제출해요.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4DC881-563B-4A44-8CA1-00D55D925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97510531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645DE9-C644-4F40-ACF3-669F69F19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rPr>
              <a:t>삼국 유산 탐구 · 2차시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FFB8A7-97DA-4201-8DBB-3E82445E5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학급 통합 준비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E93F70-E0F5-4C2A-9BFD-5E874ADB4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여섯 모둠은 같은 열 이름을 사용했나요?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2CF012-F2CB-48AF-A8D2-BFB7BB158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우리 모둠 행 수를 세어 제출 표에 적어요.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27D7FE-3664-47E7-A6E3-566274DFC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다음 시간에는 ‘모둠 파일 합치기’로 행을 합쳐 그래프 하나를 만들어요.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47E836-40A0-43B4-8DED-41EB2A002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98183097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ABF1BD-C3A4-4FDD-8E90-BD124A6F0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rPr>
              <a:t>삼국 유산 탐구 · 3차시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E43452-40D1-401F-AC01-D3318C8DB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학급 전체 그래프 만들고 읽기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F96AC9-8F88-4E43-9BD8-4A72A2D64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여섯 모둠의 근거 표를 합쳐 이야기종류별 문장 수와 한계를 설명할 수 있어요.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F706E7-E4C6-4E14-9535-61F8CC93F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개념 8분 · 통합과 그래프 22분 · 해석과 저장 10분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48B5BB-1737-47BD-89E6-58822F060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81549106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AAA098-F9D9-4EB8-912B-D4DFB612F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rPr>
              <a:t>삼국 유산 탐구 · 3차시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7597B2-2CC1-467D-84CB-97A2EEC6B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여섯 모둠의 표를 하나로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85365C-B028-43DF-827A-D5D6E8E82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선생님 기기에 모둠별 행을 이어 붙여요.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EA51C6-5418-4C55-8A59-CD914ED71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열 이름, 중복, 보류 문장 제외 여부를 함께 확인해요.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4503EA-7796-4BC2-805A-291FAE158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모둠별 행 수의 합과 학급 표의 행 수가 같아야 해요.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9A7E21-114D-417D-82F4-385A39330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68220489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6AB451-58F1-48C8-8B5C-276981CC5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rPr>
              <a:t>삼국 유산 탐구 · 3차시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BA5A88-FB2A-4189-BE71-B54AF786D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그래프가 세는 대상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9EDA89-634C-449B-B632-6549451E9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가로축은 이야기종류, 세로축은 문장 수예요.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BA6106-0A4C-48DF-AD27-96C871747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문장이 5개라는 말은 유산이 5개라는 뜻이 아니에요.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13CB2D-3F4F-4E1E-9F42-279E46098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제목은 “우리 반이 조사한 삼국 유산의 이야기종류”로 붙여요.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5D7CD2-1916-4763-91E8-1221B5F55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63229643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C8201E-E77A-44A7-ACF2-508E85F56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rPr>
              <a:t>삼국 유산 탐구 · 3차시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91D6CD-D715-408D-ABCC-C251D7190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함께 읽을 연습 자료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A5D3F2-FD8D-44AF-8221-CECDCE2A4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연습용 개수: 언제·어디 6, 재료·방법 8, 생김새 4, 쓰임·생활 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E9C1A1-3AEC-4693-ACCB-1D36A7024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합계는 24문장이에요. 재료·방법과 생김새의 차이는 4문장이에요.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C77B84-884F-481E-9A84-4B98552DE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이 숫자는 연습 자료이며 실제 학급 조사 결과로 쓰지 않아요.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6B1A38-431E-4A09-8DFF-1E5032B28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43823058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FBC944-C9E9-4E8C-A930-18A19501F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rPr>
              <a:t>삼국 유산 탐구 · 3차시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C5C756-700E-4D01-81B2-5F511AFDE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우리 반 표 합치기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3361CC-FDD7-4045-8F90-C7D8E30BC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‘모둠 파일 합치기’에서 여섯 모둠의 작업 파일을 골라요.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C0459D-6F56-4B4F-9D1E-650333859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한글 열 이름과 전체 행 수가 맞는지 먼저 확인해요.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FD3E90-25E3-4095-AE55-BA6C88690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여러 기기에서 같은 표를 동시에 편집한다고 생각하지 않아요.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48E2B9-394C-4716-82DE-22C516260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70667986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87CDD0-30CA-4C0D-B9EA-B7B39B670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rPr>
              <a:t>삼국 유산 탐구 · 3차시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68FC15-E217-4204-A636-6F12FC77B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종류별 막대그래프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6A9CEC-EF33-4217-99C7-A87F443AF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‘그래프 만들기’를 눌러 이야기종류별 문장 수를 살펴요.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CC0E4A-47BA-4510-8F58-1944CFB35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확인한 행의 개수가 막대와 숫자로 나타나요.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83DFA8-DF4D-4AC8-80C2-1AB251757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표에서 센 수와 막대의 수를 하나씩 대조해요.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0F3F22-75A5-49EF-83DA-9DAF672F1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96531048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2DEE43-0512-4C39-983B-076DD37B8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rPr>
              <a:t>삼국 유산 탐구 · 3차시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DDC9D1-F0C3-4593-9648-B5384E304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말할 수 있는 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E08E56-90F1-4B6A-AD91-A89810048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“우리 반이 고른 24문장 중 재료·방법은 8문장입니다.”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3536B2-FB31-43B5-BE27-520CA4EA7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제목과 단위, 자료의 범위를 포함해 설명해요.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395EFB-7A01-4079-BABA-9F71F1561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실제 발표에서는 우리 반의 실제 개수로 바꾸어요.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592DBD-D316-458F-BB38-2E3886D20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0251512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8D780A-37B6-42BF-802E-C40C36502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rPr>
              <a:t>삼국 유산 탐구 · 3차시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8025B6-92BF-46C8-9F86-5C445C516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말할 수 없는 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10D152-5AB3-450C-82E6-931364355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문장이 많다고 더 중요한 유산이라고 말할 수 없어요.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0AD107-882C-481C-AD45-059A05540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이 자료만으로 삼국 사람 전체의 생활을 알 수 없어요.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E650B8-E5F8-405D-ACA6-93F721C9B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다른 자료를 조사하면 그래프가 달라질 수 있어요.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EC8AE1-CDD7-4FBD-BBFD-845F17730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18593265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AFAAD0-3A29-4716-A2D4-38C8E20F9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rPr>
              <a:t>삼국 유산 탐구 · 3차시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E7EABD-7E77-41BC-9DE8-02CD45232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저장하고 전시로 연결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89BDF6-B0B7-431A-AC23-6E9633EC8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‘작업 파일 저장’으로 표를, ‘그래프 PNG 저장’으로 그림을 보관해요.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FBC74F-27B9-4530-8796-07F387699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그래프 이미지와 학급 표를 함께 보관해요.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86E1CB-2532-4751-AE54-DC2AC4F40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AR 해설은 막대 높이 대신 1차시에서 확인한 사실을 바탕으로 써요.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2B2F9C-392F-463F-8275-934B97CF0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51460126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FD7E02-9543-417A-9268-900ABEA25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rPr>
              <a:t>삼국 유산 탐구 · 3차시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0FE341-D0B6-4DC1-81D4-21BB83414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다음은 AR 전시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F74037-8FEC-4CFA-9673-9F18C478F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표와 그래프를 저장해요.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0A8ED0-3483-421D-8849-29119F22F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자료에서 확인한 근거로 유물의 특징을 설명해요.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3B5650-E00F-4554-9028-A2848DCA0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4차시에 유물 모형을 만들고 해설할 곳을 골라요.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4B6EAA-F715-47DD-A33F-31C93A954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3555140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2026-10-21T01:18:50.2190000Z</dcterms:created>
  <dcterms:modified xsi:type="dcterms:W3CDTF">2026-10-21T01:18:50.2190000Z</dcterms:modified>
</coreProperties>
</file>