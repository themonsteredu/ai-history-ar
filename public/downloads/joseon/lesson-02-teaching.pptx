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85800"/>
            <a:ext cx="5486400" cy="32918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1">
                <a:solidFill>
                  <a:srgbClr val="1F4F40"/>
                </a:solidFill>
                <a:latin typeface="S-Core Dream"/>
              </a:rPr>
              <a:t>AI혁신학교 공개수업 · 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261872"/>
            <a:ext cx="9875520" cy="107899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42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2788920"/>
            <a:ext cx="10561320" cy="1261872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2788920"/>
            <a:ext cx="91440" cy="1261872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999232"/>
            <a:ext cx="978408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00" b="1">
                <a:solidFill>
                  <a:srgbClr val="1F4F40"/>
                </a:solidFill>
                <a:latin typeface="S-Core Dream"/>
              </a:rPr>
              <a:t>핵심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364992"/>
            <a:ext cx="9784080" cy="502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200" b="1">
                <a:solidFill>
                  <a:srgbClr val="1F4F40"/>
                </a:solidFill>
                <a:latin typeface="S-Core Dream"/>
              </a:rPr>
              <a:t>“우리가 아는 조선, 정말 그랬을까?”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4617720"/>
            <a:ext cx="10515600" cy="8686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100" b="0">
                <a:solidFill>
                  <a:srgbClr val="1F2925"/>
                </a:solidFill>
                <a:latin typeface="S-Core Dream"/>
              </a:rPr>
              <a:t>사실과 오류, 근거 없는 단정이 섞인 AI 답변을</a:t>
            </a:r>
            <a:br/>
            <a:r>
              <a:rPr sz="2100" b="0">
                <a:solidFill>
                  <a:srgbClr val="1F2925"/>
                </a:solidFill>
                <a:latin typeface="S-Core Dream"/>
              </a:rPr>
              <a:t>모둠별 A4 한 장에서 찾아냅니다.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조선시대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오늘의 학습 목표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993392"/>
            <a:ext cx="10680192" cy="1874519"/>
          </a:xfrm>
          <a:prstGeom prst="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993392"/>
            <a:ext cx="109728" cy="1874519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331720"/>
            <a:ext cx="9784080" cy="11430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600" b="1">
                <a:solidFill>
                  <a:srgbClr val="1F4F40"/>
                </a:solidFill>
                <a:latin typeface="S-Core Dream"/>
              </a:rPr>
              <a:t>AI 설명에서 사실과 다른 부분이나</a:t>
            </a:r>
            <a:br/>
            <a:r>
              <a:rPr sz="2600" b="1">
                <a:solidFill>
                  <a:srgbClr val="1F4F40"/>
                </a:solidFill>
                <a:latin typeface="S-Core Dream"/>
              </a:rPr>
              <a:t>더 확인해야 할 부분을 찾고 이유를 설명할 수 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조선시대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오늘의 미션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그럴듯한 AI 답변 속에서 이상한 문장 1~2개를 찾아라.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1965960"/>
            <a:ext cx="530352" cy="53035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6596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-Core Dream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938528"/>
            <a:ext cx="914400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검색하기 전에 먼저 판단한다.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880360"/>
            <a:ext cx="530352" cy="53035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8036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-Core Dream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852928"/>
            <a:ext cx="914400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맞는 말과 틀린 말이 섞여 있음을 기억한다.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794760"/>
            <a:ext cx="530352" cy="53035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79476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-Core Dream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767328"/>
            <a:ext cx="914400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핵심 낱말 2~4개로 검색한다.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709160"/>
            <a:ext cx="530352" cy="53035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70916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-Core Dream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681728"/>
            <a:ext cx="914400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최종 판단에는 출처와 근거를 붙인다.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조선시대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판정 기호 네 가지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93392"/>
            <a:ext cx="2423160" cy="233172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2423160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3800" b="1">
                <a:solidFill>
                  <a:srgbClr val="1F4F40"/>
                </a:solidFill>
                <a:latin typeface="S-Core Dream"/>
              </a:rPr>
              <a:t>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246120"/>
            <a:ext cx="2194560" cy="65836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500" b="0">
                <a:solidFill>
                  <a:srgbClr val="1F2925"/>
                </a:solidFill>
                <a:latin typeface="S-Core Dream"/>
              </a:rPr>
              <a:t>자료로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1993392"/>
            <a:ext cx="2423160" cy="233172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2148840"/>
            <a:ext cx="2423160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3800" b="1">
                <a:solidFill>
                  <a:srgbClr val="1F4F40"/>
                </a:solidFill>
                <a:latin typeface="S-Core Dream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3246120"/>
            <a:ext cx="2194560" cy="65836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500" b="0">
                <a:solidFill>
                  <a:srgbClr val="1F2925"/>
                </a:solidFill>
                <a:latin typeface="S-Core Dream"/>
              </a:rPr>
              <a:t>자료와 다름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79" y="1993392"/>
            <a:ext cx="2423160" cy="233172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79" y="2148840"/>
            <a:ext cx="2423160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3800" b="1">
                <a:solidFill>
                  <a:srgbClr val="1F4F40"/>
                </a:solidFill>
                <a:latin typeface="S-Core Dream"/>
              </a:rPr>
              <a:t>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7" y="3246120"/>
            <a:ext cx="2194560" cy="65836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500" b="0">
                <a:solidFill>
                  <a:srgbClr val="1F2925"/>
                </a:solidFill>
                <a:latin typeface="S-Core Dream"/>
              </a:rPr>
              <a:t>근거 부족·과장됨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3999" y="1993392"/>
            <a:ext cx="2423160" cy="233172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3999" y="2148840"/>
            <a:ext cx="2423160" cy="9144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3800" b="1">
                <a:solidFill>
                  <a:srgbClr val="1F4F40"/>
                </a:solidFill>
                <a:latin typeface="S-Core Dream"/>
              </a:rPr>
              <a:t>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3727" y="3246120"/>
            <a:ext cx="2194560" cy="65836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500" b="0">
                <a:solidFill>
                  <a:srgbClr val="1F2925"/>
                </a:solidFill>
                <a:latin typeface="S-Core Dream"/>
              </a:rPr>
              <a:t>더 찾아봐야 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" y="4800600"/>
            <a:ext cx="10012680" cy="685800"/>
          </a:xfrm>
          <a:prstGeom prst="roundRect">
            <a:avLst/>
          </a:prstGeom>
          <a:solidFill>
            <a:srgbClr val="FBF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800600"/>
            <a:ext cx="9738360" cy="6858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700" b="1">
                <a:solidFill>
                  <a:srgbClr val="1F4F40"/>
                </a:solidFill>
                <a:latin typeface="S-Core Dream"/>
              </a:rPr>
              <a:t>△와 ?도 정답이 될 수 있습니다. 모르는 것을 억지로 채우지 않습니다.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조선시대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활동지는 A4 한 장입니다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읽기 → 의심 → 검색 → 수정 → 결론을 같은 면에서 끝냅니다.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1965960"/>
            <a:ext cx="530352" cy="53035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6596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-Core Dream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938528"/>
            <a:ext cx="896112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AI 문장 6개에 ○·×·△·? 표시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2880360"/>
            <a:ext cx="530352" cy="53035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88036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-Core Dream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2852928"/>
            <a:ext cx="896112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가장 의심한 문장과 까닭 선택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794760"/>
            <a:ext cx="530352" cy="53035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79476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-Core Dream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3767328"/>
            <a:ext cx="896112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1~2개 문장을 공식 자료로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" y="4709160"/>
            <a:ext cx="530352" cy="530352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0916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-Core Dream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681728"/>
            <a:ext cx="8961120" cy="5943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바르게 고쳐 쓰고 모둠 결론 작성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조선시대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여섯 모둠의 탐구 대상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786384" cy="786384"/>
          </a:xfrm>
          <a:prstGeom prst="roundRect">
            <a:avLst/>
          </a:prstGeom>
          <a:solidFill>
            <a:srgbClr val="345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786384" cy="78638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-Core Dream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856231"/>
            <a:ext cx="434340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700" b="1">
                <a:solidFill>
                  <a:srgbClr val="1F2925"/>
                </a:solidFill>
                <a:latin typeface="S-Core Dream"/>
              </a:rPr>
              <a:t>훈민정음 해례본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249424"/>
            <a:ext cx="4343400" cy="4114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한글은 정말 세종 혼자 만들었을까?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874519"/>
            <a:ext cx="786384" cy="786384"/>
          </a:xfrm>
          <a:prstGeom prst="roundRect">
            <a:avLst/>
          </a:prstGeom>
          <a:solidFill>
            <a:srgbClr val="2F3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19"/>
            <a:ext cx="786384" cy="78638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-Core Dream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856231"/>
            <a:ext cx="434340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700" b="1">
                <a:solidFill>
                  <a:srgbClr val="1F2925"/>
                </a:solidFill>
                <a:latin typeface="S-Core Dream"/>
              </a:rPr>
              <a:t>조선왕조실록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249424"/>
            <a:ext cx="4343400" cy="4114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임금도 못 보는 기록이 어떻게 지켜졌나?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227832"/>
            <a:ext cx="786384" cy="786384"/>
          </a:xfrm>
          <a:prstGeom prst="roundRect">
            <a:avLst/>
          </a:prstGeom>
          <a:solidFill>
            <a:srgbClr val="667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27832"/>
            <a:ext cx="786384" cy="78638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-Core Dream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209544"/>
            <a:ext cx="434340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700" b="1">
                <a:solidFill>
                  <a:srgbClr val="1F2925"/>
                </a:solidFill>
                <a:latin typeface="S-Core Dream"/>
              </a:rPr>
              <a:t>수원 화성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602736"/>
            <a:ext cx="4343400" cy="4114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거중기는 정말 공사를 바꿨을까?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3227832"/>
            <a:ext cx="786384" cy="786384"/>
          </a:xfrm>
          <a:prstGeom prst="roundRect">
            <a:avLst/>
          </a:prstGeom>
          <a:solidFill>
            <a:srgbClr val="9C7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227832"/>
            <a:ext cx="786384" cy="78638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-Core Dream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3209544"/>
            <a:ext cx="434340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700" b="1">
                <a:solidFill>
                  <a:srgbClr val="1F2925"/>
                </a:solidFill>
                <a:latin typeface="S-Core Dream"/>
              </a:rPr>
              <a:t>자격루·앙부일구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3602736"/>
            <a:ext cx="4343400" cy="4114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장영실은 그 뒤 어떻게 되었을까?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581144"/>
            <a:ext cx="786384" cy="786384"/>
          </a:xfrm>
          <a:prstGeom prst="roundRect">
            <a:avLst/>
          </a:prstGeom>
          <a:solidFill>
            <a:srgbClr val="654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581144"/>
            <a:ext cx="786384" cy="78638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-Core Dream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4562856"/>
            <a:ext cx="434340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700" b="1">
                <a:solidFill>
                  <a:srgbClr val="1F2925"/>
                </a:solidFill>
                <a:latin typeface="S-Core Dream"/>
              </a:rPr>
              <a:t>종묘와 종묘제례악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4956048"/>
            <a:ext cx="4343400" cy="4114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왜 이렇게 단순하게 지었을까?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4581144"/>
            <a:ext cx="786384" cy="786384"/>
          </a:xfrm>
          <a:prstGeom prst="roundRect">
            <a:avLst/>
          </a:prstGeom>
          <a:solidFill>
            <a:srgbClr val="25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4581144"/>
            <a:ext cx="786384" cy="78638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-Core Dream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4562856"/>
            <a:ext cx="434340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700" b="1">
                <a:solidFill>
                  <a:srgbClr val="1F2925"/>
                </a:solidFill>
                <a:latin typeface="S-Core Dream"/>
              </a:rPr>
              <a:t>난중일기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0920" y="4956048"/>
            <a:ext cx="4343400" cy="4114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드라마 속 이순신은 진짜일까?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조선시대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1모둠 · 훈민정음 해례본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훈민정음은 누가 만들고, 누가 설명을 붙였나요?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920240"/>
            <a:ext cx="109728" cy="4160520"/>
          </a:xfrm>
          <a:prstGeom prst="rect">
            <a:avLst/>
          </a:prstGeom>
          <a:solidFill>
            <a:srgbClr val="345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1874519"/>
            <a:ext cx="420624" cy="420624"/>
          </a:xfrm>
          <a:prstGeom prst="roundRect">
            <a:avLst/>
          </a:prstGeom>
          <a:solidFill>
            <a:srgbClr val="345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874519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1828799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세종은 1443년에 새 글자를 만들었습니다.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2532887"/>
            <a:ext cx="420624" cy="420624"/>
          </a:xfrm>
          <a:prstGeom prst="roundRect">
            <a:avLst/>
          </a:prstGeom>
          <a:solidFill>
            <a:srgbClr val="345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2532887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7632" y="2487168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1446년에는 새 글자의 원리와 사용법을 설명한 훈민정음 해례가 펴내졌습니다.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3191256"/>
            <a:ext cx="420624" cy="420624"/>
          </a:xfrm>
          <a:prstGeom prst="roundRect">
            <a:avLst/>
          </a:prstGeom>
          <a:solidFill>
            <a:srgbClr val="345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191256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145536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처음 만든 훈민정음 글자는 모두 28자였습니다.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3849624"/>
            <a:ext cx="420624" cy="420624"/>
          </a:xfrm>
          <a:prstGeom prst="roundRect">
            <a:avLst/>
          </a:prstGeom>
          <a:solidFill>
            <a:srgbClr val="345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3849624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3803904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집현전 학자들이 글자를 모두 만들었고 세종은 이름만 붙였습니다.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4507992"/>
            <a:ext cx="420624" cy="420624"/>
          </a:xfrm>
          <a:prstGeom prst="roundRect">
            <a:avLst/>
          </a:prstGeom>
          <a:solidFill>
            <a:srgbClr val="345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450799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27632" y="4462272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훈민정음 해례본의 설명과 예시 작성에는 집현전 학자들이 참여했습니다.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5166359"/>
            <a:ext cx="420624" cy="420624"/>
          </a:xfrm>
          <a:prstGeom prst="roundRect">
            <a:avLst/>
          </a:prstGeom>
          <a:solidFill>
            <a:srgbClr val="345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" y="5166359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27632" y="5120640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각 글자를 정확히 어느 학자가 한 자씩 만들었는지 개인별 명단이 모두 남아 있습니다.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조선시대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2모둠 · 조선왕조실록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조선왕조실록은 누가 만들고, 어떻게 지켜졌나요?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920240"/>
            <a:ext cx="109728" cy="4160520"/>
          </a:xfrm>
          <a:prstGeom prst="rect">
            <a:avLst/>
          </a:prstGeom>
          <a:solidFill>
            <a:srgbClr val="2F3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1874519"/>
            <a:ext cx="420624" cy="420624"/>
          </a:xfrm>
          <a:prstGeom prst="roundRect">
            <a:avLst/>
          </a:prstGeom>
          <a:solidFill>
            <a:srgbClr val="2F3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874519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1828799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한 임금의 실록은 그 임금이 세상을 떠난 뒤 임시로 설치한 실록청에서 편찬했습니다.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2532887"/>
            <a:ext cx="420624" cy="420624"/>
          </a:xfrm>
          <a:prstGeom prst="roundRect">
            <a:avLst/>
          </a:prstGeom>
          <a:solidFill>
            <a:srgbClr val="2F3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2532887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7632" y="2487168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사관이 남긴 기록과 여러 자료를 모아 실록을 만들었습니다.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3191256"/>
            <a:ext cx="420624" cy="420624"/>
          </a:xfrm>
          <a:prstGeom prst="roundRect">
            <a:avLst/>
          </a:prstGeom>
          <a:solidFill>
            <a:srgbClr val="2F3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191256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145536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조선의 임금은 매일 밤 자기 손으로 그날의 실록을 직접 썼습니다.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3849624"/>
            <a:ext cx="420624" cy="420624"/>
          </a:xfrm>
          <a:prstGeom prst="roundRect">
            <a:avLst/>
          </a:prstGeom>
          <a:solidFill>
            <a:srgbClr val="2F3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3849624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3803904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실록은 사고라는 여러 보관소에 나누어 두어 한 곳의 사고에 대비했습니다.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4507992"/>
            <a:ext cx="420624" cy="420624"/>
          </a:xfrm>
          <a:prstGeom prst="roundRect">
            <a:avLst/>
          </a:prstGeom>
          <a:solidFill>
            <a:srgbClr val="2F3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450799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27632" y="4462272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임진왜란 때 전국의 실록이 모두 안전하게 남아 한 권도 잃지 않았습니다.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5166359"/>
            <a:ext cx="420624" cy="420624"/>
          </a:xfrm>
          <a:prstGeom prst="roundRect">
            <a:avLst/>
          </a:prstGeom>
          <a:solidFill>
            <a:srgbClr val="2F3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" y="5166359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27632" y="5120640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전주 사고에 있던 실록은 전쟁 뒤 실록을 다시 만드는 중요한 바탕이 되었습니다.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조선시대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3모둠 · 수원 화성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수원 화성은 어떻게 지었고, 거중기는 어느 정도 역할을 했나요?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920240"/>
            <a:ext cx="109728" cy="4160520"/>
          </a:xfrm>
          <a:prstGeom prst="rect">
            <a:avLst/>
          </a:prstGeom>
          <a:solidFill>
            <a:srgbClr val="667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1874519"/>
            <a:ext cx="420624" cy="420624"/>
          </a:xfrm>
          <a:prstGeom prst="roundRect">
            <a:avLst/>
          </a:prstGeom>
          <a:solidFill>
            <a:srgbClr val="667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874519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1828799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수원 화성은 정조 때인 1794년에 공사를 시작해 1796년에 완성되었습니다.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2532887"/>
            <a:ext cx="420624" cy="420624"/>
          </a:xfrm>
          <a:prstGeom prst="roundRect">
            <a:avLst/>
          </a:prstGeom>
          <a:solidFill>
            <a:srgbClr val="667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2532887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7632" y="2487168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정약용은 화성 설계와 공사 방법을 마련하고 거중기 같은 도구 사용에 기여했습니다.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3191256"/>
            <a:ext cx="420624" cy="420624"/>
          </a:xfrm>
          <a:prstGeom prst="roundRect">
            <a:avLst/>
          </a:prstGeom>
          <a:solidFill>
            <a:srgbClr val="667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191256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145536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수원 화성은 거중기 한 대가 혼자 모든 돌을 옮겨 한 달 만에 완성했습니다.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3849624"/>
            <a:ext cx="420624" cy="420624"/>
          </a:xfrm>
          <a:prstGeom prst="roundRect">
            <a:avLst/>
          </a:prstGeom>
          <a:solidFill>
            <a:srgbClr val="667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3849624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3803904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거중기 덕분에 공사 기간이 정확히 10년에서 34개월로 줄었다는 숫자는 당시 기록으로 완전히 증명되었습니다.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4507992"/>
            <a:ext cx="420624" cy="420624"/>
          </a:xfrm>
          <a:prstGeom prst="roundRect">
            <a:avLst/>
          </a:prstGeom>
          <a:solidFill>
            <a:srgbClr val="667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450799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27632" y="4462272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화성성역의궤에는 공사 과정, 재료, 인력과 비용에 관한 자세한 기록이 남아 있습니다.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5166359"/>
            <a:ext cx="420624" cy="420624"/>
          </a:xfrm>
          <a:prstGeom prst="roundRect">
            <a:avLst/>
          </a:prstGeom>
          <a:solidFill>
            <a:srgbClr val="667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" y="5166359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27632" y="5120640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수원 화성은 조선과 관계없는 유럽 건축가가 혼자 설계했습니다.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조선시대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4모둠 · 자격루·앙부일구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자격루와 앙부일구는 어떻게 시간을 알렸고, 장영실의 마지막 기록은 무엇인가요?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920240"/>
            <a:ext cx="109728" cy="4160520"/>
          </a:xfrm>
          <a:prstGeom prst="rect">
            <a:avLst/>
          </a:prstGeom>
          <a:solidFill>
            <a:srgbClr val="9C7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1874519"/>
            <a:ext cx="420624" cy="420624"/>
          </a:xfrm>
          <a:prstGeom prst="roundRect">
            <a:avLst/>
          </a:prstGeom>
          <a:solidFill>
            <a:srgbClr val="9C7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874519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1828799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자격루는 물의 흐름과 기계 장치를 이용해 자동으로 시간을 알리는 물시계였습니다.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2532887"/>
            <a:ext cx="420624" cy="420624"/>
          </a:xfrm>
          <a:prstGeom prst="roundRect">
            <a:avLst/>
          </a:prstGeom>
          <a:solidFill>
            <a:srgbClr val="9C7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2532887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7632" y="2487168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앙부일구는 해의 위치에 따라 생기는 그림자로 시간을 읽는 해시계입니다.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3191256"/>
            <a:ext cx="420624" cy="420624"/>
          </a:xfrm>
          <a:prstGeom prst="roundRect">
            <a:avLst/>
          </a:prstGeom>
          <a:solidFill>
            <a:srgbClr val="9C7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191256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145536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장영실은 여러 과학 기구를 아무 도움 없이 혼자 설계하고 제작했습니다.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3849624"/>
            <a:ext cx="420624" cy="420624"/>
          </a:xfrm>
          <a:prstGeom prst="roundRect">
            <a:avLst/>
          </a:prstGeom>
          <a:solidFill>
            <a:srgbClr val="9C7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3849624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3803904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앙부일구는 달빛만 있으면 밤에도 낮과 똑같이 시간을 정확히 읽을 수 있었습니다.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4507992"/>
            <a:ext cx="420624" cy="420624"/>
          </a:xfrm>
          <a:prstGeom prst="roundRect">
            <a:avLst/>
          </a:prstGeom>
          <a:solidFill>
            <a:srgbClr val="9C7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450799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27632" y="4462272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장영실은 왕의 가마가 부서진 사건 뒤 벌을 받고 관직에서 물러났습니다.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5166359"/>
            <a:ext cx="420624" cy="420624"/>
          </a:xfrm>
          <a:prstGeom prst="roundRect">
            <a:avLst/>
          </a:prstGeom>
          <a:solidFill>
            <a:srgbClr val="9C7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" y="5166359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27632" y="5120640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장영실은 그 뒤 제주도로 유배되어 1458년에 병으로 죽었다는 기록이 남아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조선시대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5모둠 · 종묘와 종묘제례악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종묘는 어떤 곳이며, 종묘제례악은 어떻게 이루어지나요?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920240"/>
            <a:ext cx="109728" cy="4160520"/>
          </a:xfrm>
          <a:prstGeom prst="rect">
            <a:avLst/>
          </a:prstGeom>
          <a:solidFill>
            <a:srgbClr val="654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1874519"/>
            <a:ext cx="420624" cy="420624"/>
          </a:xfrm>
          <a:prstGeom prst="roundRect">
            <a:avLst/>
          </a:prstGeom>
          <a:solidFill>
            <a:srgbClr val="654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874519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1828799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종묘는 조선 왕과 왕비의 신주를 모시고 제사를 지내던 왕실 사당입니다.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2532887"/>
            <a:ext cx="420624" cy="420624"/>
          </a:xfrm>
          <a:prstGeom prst="roundRect">
            <a:avLst/>
          </a:prstGeom>
          <a:solidFill>
            <a:srgbClr val="654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2532887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7632" y="2487168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종묘제례악은 악기 연주뿐 아니라 노래와 춤이 함께하는 의례 음악입니다.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3191256"/>
            <a:ext cx="420624" cy="420624"/>
          </a:xfrm>
          <a:prstGeom prst="roundRect">
            <a:avLst/>
          </a:prstGeom>
          <a:solidFill>
            <a:srgbClr val="654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191256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145536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종묘는 왕과 왕비가 평소 잠을 자며 생활하던 궁궐의 침전이었습니다.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3849624"/>
            <a:ext cx="420624" cy="420624"/>
          </a:xfrm>
          <a:prstGeom prst="roundRect">
            <a:avLst/>
          </a:prstGeom>
          <a:solidFill>
            <a:srgbClr val="654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3849624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3803904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종묘제례악은 궁중 잔치의 흥을 돋우기 위해 매일 연주하던 오락 음악이었습니다.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4507992"/>
            <a:ext cx="420624" cy="420624"/>
          </a:xfrm>
          <a:prstGeom prst="roundRect">
            <a:avLst/>
          </a:prstGeom>
          <a:solidFill>
            <a:srgbClr val="654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450799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27632" y="4462272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종묘가 단순해 보이는 까닭은 오직 돈을 아끼기 위해서였다고 설계자의 기록에 적혀 있습니다.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5166359"/>
            <a:ext cx="420624" cy="420624"/>
          </a:xfrm>
          <a:prstGeom prst="roundRect">
            <a:avLst/>
          </a:prstGeom>
          <a:solidFill>
            <a:srgbClr val="654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" y="5166359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27632" y="5120640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종묘제례악에는 북 소리만 있고 노래와 춤은 전혀 없습니다.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조선시대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6모둠 · 난중일기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난중일기에는 이순신의 어떤 모습이 기록되어 있나요?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920240"/>
            <a:ext cx="109728" cy="4160520"/>
          </a:xfrm>
          <a:prstGeom prst="rect">
            <a:avLst/>
          </a:prstGeom>
          <a:solidFill>
            <a:srgbClr val="25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1874519"/>
            <a:ext cx="420624" cy="420624"/>
          </a:xfrm>
          <a:prstGeom prst="roundRect">
            <a:avLst/>
          </a:prstGeom>
          <a:solidFill>
            <a:srgbClr val="25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874519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1828799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난중일기는 이순신이 임진왜란이 일어난 1592년부터 1598년까지 직접 쓴 일기입니다.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2532887"/>
            <a:ext cx="420624" cy="420624"/>
          </a:xfrm>
          <a:prstGeom prst="roundRect">
            <a:avLst/>
          </a:prstGeom>
          <a:solidFill>
            <a:srgbClr val="25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2532887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7632" y="2487168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난중일기에는 전투뿐 아니라 날씨, 가족 걱정, 몸 상태와 개인적인 생각도 적혀 있습니다.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3191256"/>
            <a:ext cx="420624" cy="420624"/>
          </a:xfrm>
          <a:prstGeom prst="roundRect">
            <a:avLst/>
          </a:prstGeom>
          <a:solidFill>
            <a:srgbClr val="25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191256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145536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난중일기는 전쟁이 모두 끝난 뒤 이순신이 기억을 떠올려 한 번에 쓴 책입니다.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3849624"/>
            <a:ext cx="420624" cy="420624"/>
          </a:xfrm>
          <a:prstGeom prst="roundRect">
            <a:avLst/>
          </a:prstGeom>
          <a:solidFill>
            <a:srgbClr val="25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3849624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3803904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난중일기는 임금의 명령으로 작성한 공식 전투 보고서이므로 이순신의 개인 감정은 전혀 없습니다.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4507992"/>
            <a:ext cx="420624" cy="420624"/>
          </a:xfrm>
          <a:prstGeom prst="roundRect">
            <a:avLst/>
          </a:prstGeom>
          <a:solidFill>
            <a:srgbClr val="25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450799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27632" y="4462272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드라마에 나오는 이순신의 모든 대사는 난중일기 원문과 한 글자도 다르지 않습니다.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5166359"/>
            <a:ext cx="420624" cy="420624"/>
          </a:xfrm>
          <a:prstGeom prst="roundRect">
            <a:avLst/>
          </a:prstGeom>
          <a:solidFill>
            <a:srgbClr val="257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" y="5166359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27632" y="5120640"/>
            <a:ext cx="960120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320" b="0">
                <a:solidFill>
                  <a:srgbClr val="1F2925"/>
                </a:solidFill>
                <a:latin typeface="S-Core Dream"/>
              </a:rPr>
              <a:t>난중일기에는 이순신이 노량해전에서 죽은 뒤 자신의 죽음을 직접 적은 마지막 장이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조선시대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좋은 검색어 만들기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38528"/>
            <a:ext cx="5166360" cy="2194560"/>
          </a:xfrm>
          <a:prstGeom prst="roundRect">
            <a:avLst/>
          </a:prstGeom>
          <a:solidFill>
            <a:srgbClr val="FCE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48840"/>
            <a:ext cx="466344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800" b="1">
                <a:solidFill>
                  <a:srgbClr val="9A3E3E"/>
                </a:solidFill>
                <a:latin typeface="S-Core Dream"/>
              </a:rPr>
              <a:t>좋지 않은 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97480"/>
            <a:ext cx="4617720" cy="10515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000" b="0">
                <a:solidFill>
                  <a:srgbClr val="1F2925"/>
                </a:solidFill>
                <a:latin typeface="S-Core Dream"/>
              </a:rPr>
              <a:t>AI 문장 전체를</a:t>
            </a:r>
            <a:br/>
            <a:r>
              <a:rPr sz="2000" b="0">
                <a:solidFill>
                  <a:srgbClr val="1F2925"/>
                </a:solidFill>
                <a:latin typeface="S-Core Dream"/>
              </a:rPr>
              <a:t>그대로 붙여넣기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938528"/>
            <a:ext cx="5166360" cy="219456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2148840"/>
            <a:ext cx="466344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800" b="1">
                <a:solidFill>
                  <a:srgbClr val="1F4F40"/>
                </a:solidFill>
                <a:latin typeface="S-Core Dream"/>
              </a:rPr>
              <a:t>좋은 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2697480"/>
            <a:ext cx="4617720" cy="105156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000" b="0">
                <a:solidFill>
                  <a:srgbClr val="1F2925"/>
                </a:solidFill>
                <a:latin typeface="S-Core Dream"/>
              </a:rPr>
              <a:t>핵심 낱말 2~4개</a:t>
            </a:r>
            <a:br/>
            <a:r>
              <a:rPr sz="2000" b="0">
                <a:solidFill>
                  <a:srgbClr val="1F2925"/>
                </a:solidFill>
                <a:latin typeface="S-Core Dream"/>
              </a:rPr>
              <a:t>+ 확인할 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900" b="1">
                <a:solidFill>
                  <a:srgbClr val="1F4F40"/>
                </a:solidFill>
                <a:latin typeface="S-Core Dream"/>
              </a:rPr>
              <a:t>문장 전체가 아니라 확인할 핵심만 남깁니다.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조선시대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어디에서 먼저 확인할까?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1993392"/>
            <a:ext cx="10012680" cy="6126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1993392"/>
            <a:ext cx="9555480" cy="6126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-Core Dream"/>
              </a:rPr>
              <a:t>1순위  국가유산청 국가유산포털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834640"/>
            <a:ext cx="10012680" cy="6126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34640"/>
            <a:ext cx="9555480" cy="6126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-Core Dream"/>
              </a:rPr>
              <a:t>2순위  국립박물관·국립고궁박물관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3675888"/>
            <a:ext cx="10012680" cy="6126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3675888"/>
            <a:ext cx="9555480" cy="6126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-Core Dream"/>
              </a:rPr>
              <a:t>3순위  국사편찬위원회·조선왕조실록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4517136"/>
            <a:ext cx="10012680" cy="612648"/>
          </a:xfrm>
          <a:prstGeom prst="roundRect">
            <a:avLst/>
          </a:prstGeom>
          <a:solidFill>
            <a:srgbClr val="FBF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4517136"/>
            <a:ext cx="9555480" cy="6126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800" b="0">
                <a:solidFill>
                  <a:srgbClr val="1F2925"/>
                </a:solidFill>
                <a:latin typeface="S-Core Dream"/>
              </a:rPr>
              <a:t>비교용  블로그·영상·AI 답변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조선시대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모둠 발표는 30초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874519"/>
            <a:ext cx="10332720" cy="288036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2148840"/>
            <a:ext cx="950976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700" b="0">
                <a:solidFill>
                  <a:srgbClr val="1F2925"/>
                </a:solidFill>
                <a:latin typeface="S-Core Dream"/>
              </a:rPr>
              <a:t>우리 모둠은 ___번 문장을 의심했습니다.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752344"/>
            <a:ext cx="950976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700" b="0">
                <a:solidFill>
                  <a:srgbClr val="1F2925"/>
                </a:solidFill>
                <a:latin typeface="S-Core Dream"/>
              </a:rPr>
              <a:t>처음에는 ___ 때문에 이상하다고 생각했습니다.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355848"/>
            <a:ext cx="950976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700" b="0">
                <a:solidFill>
                  <a:srgbClr val="1F2925"/>
                </a:solidFill>
                <a:latin typeface="S-Core Dream"/>
              </a:rPr>
              <a:t>___ 자료에서 ___라는 근거를 확인했습니다.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959352"/>
            <a:ext cx="9509760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900" b="1">
                <a:solidFill>
                  <a:srgbClr val="1F4F40"/>
                </a:solidFill>
                <a:latin typeface="S-Core Dream"/>
              </a:rPr>
              <a:t>그래서 최종 판단은 ○ / × / △ / ? 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조선시대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AI는 왜 틀릴까?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965960"/>
            <a:ext cx="109728" cy="1097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874519"/>
            <a:ext cx="9784080" cy="6400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AI는 여러 글의 표현과 패턴을 조합해 답합니다.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880360"/>
            <a:ext cx="109728" cy="1097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9784080" cy="6400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자료에 빈칸이 있어도 그럴듯하게 이어 말할 수 있습니다.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794760"/>
            <a:ext cx="109728" cy="1097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703320"/>
            <a:ext cx="9784080" cy="6400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자신 있는 말투가 사실을 보장하지 않습니다.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709160"/>
            <a:ext cx="109728" cy="10972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4617720"/>
            <a:ext cx="9784080" cy="6400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000" b="0">
                <a:solidFill>
                  <a:srgbClr val="1F2925"/>
                </a:solidFill>
                <a:latin typeface="S-Core Dream"/>
              </a:rPr>
              <a:t>출처·근거·원본을 사람이 다시 확인해야 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조선시대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다음 시간 예고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그럼 진짜는 어떻게 확인할까?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331720"/>
            <a:ext cx="2583180" cy="123444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331720"/>
            <a:ext cx="2583180" cy="12344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000" b="1">
                <a:solidFill>
                  <a:srgbClr val="1F4F40"/>
                </a:solidFill>
                <a:latin typeface="S-Core Dream"/>
              </a:rPr>
              <a:t>출처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6139" y="2331720"/>
            <a:ext cx="2583180" cy="123444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6139" y="2331720"/>
            <a:ext cx="2583180" cy="12344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000" b="1">
                <a:solidFill>
                  <a:srgbClr val="1F4F40"/>
                </a:solidFill>
                <a:latin typeface="S-Core Dream"/>
              </a:rPr>
              <a:t>시기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59" y="2331720"/>
            <a:ext cx="2583180" cy="123444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59" y="2331720"/>
            <a:ext cx="2583180" cy="12344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000" b="1">
                <a:solidFill>
                  <a:srgbClr val="1F4F40"/>
                </a:solidFill>
                <a:latin typeface="S-Core Dream"/>
              </a:rPr>
              <a:t>교차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55380" y="2331720"/>
            <a:ext cx="2583180" cy="1234440"/>
          </a:xfrm>
          <a:prstGeom prst="roundRect">
            <a:avLst/>
          </a:prstGeom>
          <a:solidFill>
            <a:srgbClr val="EA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5380" y="2331720"/>
            <a:ext cx="2583180" cy="12344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000" b="1">
                <a:solidFill>
                  <a:srgbClr val="1F4F40"/>
                </a:solidFill>
                <a:latin typeface="S-Core Dream"/>
              </a:rPr>
              <a:t>원본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43400"/>
            <a:ext cx="10332720" cy="86868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100" b="1">
                <a:solidFill>
                  <a:srgbClr val="1F4F40"/>
                </a:solidFill>
                <a:latin typeface="S-Core Dream"/>
              </a:rPr>
              <a:t>오늘의 오류 발견 기록지는 10차시 교실 박물관에 전시됩니다.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조선시대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교사용 정답 부록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학생 발표 뒤에만 공개합니다.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057400"/>
            <a:ext cx="10332720" cy="2377440"/>
          </a:xfrm>
          <a:prstGeom prst="roundRect">
            <a:avLst/>
          </a:prstGeom>
          <a:solidFill>
            <a:srgbClr val="FBF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2395728"/>
            <a:ext cx="9509760" cy="164592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2400" b="1">
                <a:solidFill>
                  <a:srgbClr val="1F4F40"/>
                </a:solidFill>
                <a:latin typeface="S-Core Dream"/>
              </a:rPr>
              <a:t>정답을 먼저 보여 주지 않습니다.</a:t>
            </a:r>
            <a:br/>
            <a:r>
              <a:rPr sz="2400" b="1">
                <a:solidFill>
                  <a:srgbClr val="1F4F40"/>
                </a:solidFill>
                <a:latin typeface="S-Core Dream"/>
              </a:rPr>
              <a:t>학생이 왜 의심했는지 말한 뒤</a:t>
            </a:r>
            <a:br/>
            <a:r>
              <a:rPr sz="2400" b="1">
                <a:solidFill>
                  <a:srgbClr val="1F4F40"/>
                </a:solidFill>
                <a:latin typeface="S-Core Dream"/>
              </a:rPr>
              <a:t>판정·근거·검색어를 확인합니다.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조선시대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교사용 정답 · 1모둠 훈민정음 해례본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한글은 정말 세종 혼자 만들었을까?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47088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4708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 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819656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세종은 1443년에 새 글자를 만들었습니다.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819656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세종실록에 1443년 새 글자 창제 기록이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2523744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523744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 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496312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1446년에는 새 글자의 원리와 사용법을 설명한 훈민정음 해례가 펴내졌습니다.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496312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1446년 반포와 해례 간행이 확인됩니다.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200400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200400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 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172968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처음 만든 훈민정음 글자는 모두 28자였습니다.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172968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처음 만든 글자는 초성 17자와 중성 11자입니다.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3877056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877056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 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3849624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집현전 학자들이 글자를 모두 만들었고 세종은 이름만 붙였습니다.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849624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글자 창제의 주체는 세종이며 학자들은 해설 등에 참여했습니다.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53712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553712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 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4526280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훈민정음 해례본의 설명과 예시 작성에는 집현전 학자들이 참여했습니다.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526280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정인지 등 집현전 학자들이 해례와 서문 작성에 참여했습니다.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8" y="5230368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23036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 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5202936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각 글자를 정확히 어느 학자가 한 자씩 만들었는지 개인별 명단이 모두 남아 있습니다.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202936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글자별 담당자를 적은 개인 명단은 확인되지 않습니다.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조선시대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교사용 정답 · 2모둠 조선왕조실록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임금도 못 보는 기록이 어떻게 지켜졌나?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47088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4708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 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819656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한 임금의 실록은 그 임금이 세상을 떠난 뒤 임시로 설치한 실록청에서 편찬했습니다.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819656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실록 편찬 시기와 실록청 운영이 공식 자료에 나옵니다.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2523744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523744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 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496312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사관이 남긴 기록과 여러 자료를 모아 실록을 만들었습니다.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496312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사초·시정기 등을 바탕으로 편찬했습니다.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200400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200400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 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172968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조선의 임금은 매일 밤 자기 손으로 그날의 실록을 직접 썼습니다.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172968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사관의 기록을 바탕으로 후대에 편찬했습니다.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3877056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877056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 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3849624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실록은 사고라는 여러 보관소에 나누어 두어 한 곳의 사고에 대비했습니다.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849624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여러 사고에 복사본을 분산 보관했습니다.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53712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553712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 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4526280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임진왜란 때 전국의 실록이 모두 안전하게 남아 한 권도 잃지 않았습니다.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526280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여러 사고본이 소실되고 전주 사고본이 살아남았습니다.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8" y="5230368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23036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 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5202936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전주 사고에 있던 실록은 전쟁 뒤 실록을 다시 만드는 중요한 바탕이 되었습니다.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202936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전주 사고본을 토대로 여러 부를 다시 인쇄했습니다.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조선시대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교사용 정답 · 3모둠 수원 화성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거중기는 정말 공사를 바꿨을까?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47088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4708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 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819656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수원 화성은 정조 때인 1794년에 공사를 시작해 1796년에 완성되었습니다.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819656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공사 기간은 공식 자료에서 확인됩니다.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2523744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523744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 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496312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정약용은 화성 설계와 공사 방법을 마련하고 거중기 같은 도구 사용에 기여했습니다.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496312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정약용의 설계와 기계 활용이 공식 안내에 설명되어 있습니다.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200400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200400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 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172968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수원 화성은 거중기 한 대가 혼자 모든 돌을 옮겨 한 달 만에 완성했습니다.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172968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많은 인력·도구·공정이 필요했고 약 2년 반 동안 진행되었습니다.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3877056"/>
            <a:ext cx="786384" cy="457200"/>
          </a:xfrm>
          <a:prstGeom prst="roundRect">
            <a:avLst/>
          </a:prstGeom>
          <a:solidFill>
            <a:srgbClr val="A1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877056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 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3849624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거중기 덕분에 공사 기간이 정확히 10년에서 34개월로 줄었다는 숫자는 당시 기록으로 완전히 증명되었습니다.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849624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거중기의 기여는 확인되지만 특정 단축 수치의 출처를 따져야 합니다.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53712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553712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 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4526280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화성성역의궤에는 공사 과정, 재료, 인력과 비용에 관한 자세한 기록이 남아 있습니다.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526280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의궤가 건축 과정을 상세히 전합니다.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8" y="5230368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23036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 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5202936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수원 화성은 조선과 관계없는 유럽 건축가가 혼자 설계했습니다.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202936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정조의 계획 아래 정약용 등 조선의 인물과 기술이 참여했습니다.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조선시대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교사용 정답 · 4모둠 자격루·앙부일구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장영실은 그 뒤 어떻게 되었을까?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47088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4708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 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819656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자격루는 물의 흐름과 기계 장치를 이용해 자동으로 시간을 알리는 물시계였습니다.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819656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자동 물시계의 구조와 역할을 확인할 수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2523744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523744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 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496312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앙부일구는 해의 위치에 따라 생기는 그림자로 시간을 읽는 해시계입니다.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496312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해 그림자와 시각선으로 시간을 읽습니다.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200400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200400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 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172968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장영실은 여러 과학 기구를 아무 도움 없이 혼자 설계하고 제작했습니다.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172968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세종의 지원 아래 여러 학자와 기술자가 함께 참여했습니다.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3877056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877056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 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3849624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앙부일구는 달빛만 있으면 밤에도 낮과 똑같이 시간을 정확히 읽을 수 있었습니다.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849624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해의 그림자를 이용하므로 햇빛이 필요합니다.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53712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553712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 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4526280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장영실은 왕의 가마가 부서진 사건 뒤 벌을 받고 관직에서 물러났습니다.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526280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세종실록에 가마 사건과 처벌 기록이 남아 있습니다.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8" y="5230368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23036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 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5202936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장영실은 그 뒤 제주도로 유배되어 1458년에 병으로 죽었다는 기록이 남아 있습니다.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202936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이후 행적과 사망 시기는 확실한 기록이 남아 있지 않습니다.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조선시대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교사용 정답 · 5모둠 종묘와 종묘제례악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왜 이렇게 단순하게 지었을까?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47088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4708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 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819656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종묘는 조선 왕과 왕비의 신주를 모시고 제사를 지내던 왕실 사당입니다.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819656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종묘의 기능은 국가유산 자료에서 확인됩니다.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2523744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523744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 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496312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종묘제례악은 악기 연주뿐 아니라 노래와 춤이 함께하는 의례 음악입니다.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496312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음악·노래·일무가 함께 진행됩니다.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200400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200400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 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172968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종묘는 왕과 왕비가 평소 잠을 자며 생활하던 궁궐의 침전이었습니다.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172968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생활 공간이 아니라 조상 신주를 모시는 제례 공간입니다.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3877056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877056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 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3849624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종묘제례악은 궁중 잔치의 흥을 돋우기 위해 매일 연주하던 오락 음악이었습니다.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849624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왕실 조상에게 제사를 지내는 엄숙한 의례 음악입니다.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53712"/>
            <a:ext cx="786384" cy="457200"/>
          </a:xfrm>
          <a:prstGeom prst="roundRect">
            <a:avLst/>
          </a:prstGeom>
          <a:solidFill>
            <a:srgbClr val="A1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553712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 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4526280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종묘가 단순해 보이는 까닭은 오직 돈을 아끼기 위해서였다고 설계자의 기록에 적혀 있습니다.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526280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제례의 엄숙함과 질서를 드러내며 비용 하나로 단정하기 어렵습니다.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8" y="5230368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23036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 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5202936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종묘제례악에는 북 소리만 있고 노래와 춤은 전혀 없습니다.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202936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악기·노래·춤이 함께하는 종합 의례입니다.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9184"/>
            <a:ext cx="1051560" cy="384048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1051560" cy="38404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256032"/>
            <a:ext cx="530352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500" b="1">
                <a:solidFill>
                  <a:srgbClr val="1F2925"/>
                </a:solidFill>
                <a:latin typeface="S-Core Dream"/>
              </a:rPr>
              <a:t>AI에게 물어보았습니다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320040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r"/>
            <a:r>
              <a:rPr sz="900" b="0">
                <a:solidFill>
                  <a:srgbClr val="64716C"/>
                </a:solidFill>
                <a:latin typeface="S-Core Dream"/>
              </a:rPr>
              <a:t>조선시대 · 교사용 수업 PPT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50392"/>
            <a:ext cx="11183112" cy="22860"/>
          </a:xfrm>
          <a:prstGeom prst="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078992"/>
            <a:ext cx="10881360" cy="566928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2800" b="1">
                <a:solidFill>
                  <a:srgbClr val="1F2925"/>
                </a:solidFill>
                <a:latin typeface="S-Core Dream"/>
              </a:rPr>
              <a:t>교사용 정답 · 6모둠 난중일기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18488"/>
            <a:ext cx="10789920" cy="34747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200" b="0">
                <a:solidFill>
                  <a:srgbClr val="64716C"/>
                </a:solidFill>
                <a:latin typeface="S-Core Dream"/>
              </a:rPr>
              <a:t>드라마 속 이순신은 진짜일까?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47088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4708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1 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819656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난중일기는 이순신이 임진왜란이 일어난 1592년부터 1598년까지 직접 쓴 일기입니다.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819656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작성자와 작성 기간은 공식 자료에서 확인됩니다.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2523744"/>
            <a:ext cx="786384" cy="457200"/>
          </a:xfrm>
          <a:prstGeom prst="roundRect">
            <a:avLst/>
          </a:prstGeom>
          <a:solidFill>
            <a:srgbClr val="2F7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523744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2 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496312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난중일기에는 전투뿐 아니라 날씨, 가족 걱정, 몸 상태와 개인적인 생각도 적혀 있습니다.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496312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일기 원문에 일상과 감정 기록도 많습니다.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200400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200400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3 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172968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난중일기는 전쟁이 모두 끝난 뒤 이순신이 기억을 떠올려 한 번에 쓴 책입니다.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172968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전쟁 중 날마다 또는 시기별로 남긴 일기입니다.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3877056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877056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4 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3849624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난중일기는 임금의 명령으로 작성한 공식 전투 보고서이므로 이순신의 개인 감정은 전혀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849624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개인 일기라서 감정과 일상이 함께 담겨 있습니다.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53712"/>
            <a:ext cx="786384" cy="457200"/>
          </a:xfrm>
          <a:prstGeom prst="roundRect">
            <a:avLst/>
          </a:prstGeom>
          <a:solidFill>
            <a:srgbClr val="A1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553712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5 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4526280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드라마에 나오는 이순신의 모든 대사는 난중일기 원문과 한 글자도 다르지 않습니다.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4526280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드라마에는 연출과 각색이 있으므로 장면마다 원문과 비교해야 합니다.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8" y="5230368"/>
            <a:ext cx="786384" cy="457200"/>
          </a:xfrm>
          <a:prstGeom prst="roundRect">
            <a:avLst/>
          </a:prstGeom>
          <a:solidFill>
            <a:srgbClr val="A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230368"/>
            <a:ext cx="786384" cy="457200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-Core Dream"/>
              </a:rPr>
              <a:t>6 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5202936"/>
            <a:ext cx="429768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110" b="0">
                <a:solidFill>
                  <a:srgbClr val="1F2925"/>
                </a:solidFill>
                <a:latin typeface="S-Core Dream"/>
              </a:rPr>
              <a:t>난중일기에는 이순신이 노량해전에서 죽은 뒤 자신의 죽음을 직접 적은 마지막 장이 있습니다.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202936"/>
            <a:ext cx="5166360" cy="530352"/>
          </a:xfrm>
          <a:prstGeom prst="rect">
            <a:avLst/>
          </a:prstGeom>
          <a:noFill/>
          <a:ln>
            <a:noFill/>
          </a:ln>
        </p:spPr>
        <p:txBody>
          <a:bodyPr wrap="none" lIns="64008" rIns="64008" anchor="ctr">
            <a:spAutoFit/>
          </a:bodyPr>
          <a:lstStyle/>
          <a:p>
            <a:pPr algn="l"/>
            <a:r>
              <a:rPr sz="1080" b="0">
                <a:solidFill>
                  <a:srgbClr val="64716C"/>
                </a:solidFill>
                <a:latin typeface="S-Core Dream"/>
              </a:rPr>
              <a:t>자신의 죽음 뒤 기록을 직접 쓸 수 없습니다.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